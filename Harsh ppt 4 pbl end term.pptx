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49" r:id="rId2"/>
  </p:sldMasterIdLst>
  <p:notesMasterIdLst>
    <p:notesMasterId r:id="rId3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80" r:id="rId25"/>
    <p:sldId id="281" r:id="rId26"/>
    <p:sldId id="282" r:id="rId27"/>
    <p:sldId id="286" r:id="rId28"/>
    <p:sldId id="285" r:id="rId29"/>
  </p:sldIdLst>
  <p:sldSz cx="24384000" cy="13716000"/>
  <p:notesSz cx="7772400" cy="10058400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ource Han Sans CN" charset="0"/>
        <a:cs typeface="Source Han Sans CN" charset="0"/>
      </a:defRPr>
    </a:lvl1pPr>
    <a:lvl2pPr marL="742950" indent="-28575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ource Han Sans CN" charset="0"/>
        <a:cs typeface="Source Han Sans CN" charset="0"/>
      </a:defRPr>
    </a:lvl2pPr>
    <a:lvl3pPr marL="1143000" indent="-228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ource Han Sans CN" charset="0"/>
        <a:cs typeface="Source Han Sans CN" charset="0"/>
      </a:defRPr>
    </a:lvl3pPr>
    <a:lvl4pPr marL="1600200" indent="-228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ource Han Sans CN" charset="0"/>
        <a:cs typeface="Source Han Sans CN" charset="0"/>
      </a:defRPr>
    </a:lvl4pPr>
    <a:lvl5pPr marL="2057400" indent="-228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ource Han Sans CN" charset="0"/>
        <a:cs typeface="Source Han Sans CN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ource Han Sans CN" charset="0"/>
        <a:cs typeface="Source Han Sans CN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ource Han Sans CN" charset="0"/>
        <a:cs typeface="Source Han Sans CN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ource Han Sans CN" charset="0"/>
        <a:cs typeface="Source Han Sans CN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ource Han Sans CN" charset="0"/>
        <a:cs typeface="Source Han Sans C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720"/>
  </p:normalViewPr>
  <p:slideViewPr>
    <p:cSldViewPr>
      <p:cViewPr>
        <p:scale>
          <a:sx n="59" d="100"/>
          <a:sy n="59" d="100"/>
        </p:scale>
        <p:origin x="16" y="14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45C67C8A-5BB3-2F81-35C2-3E4CCC72B114}"/>
              </a:ext>
            </a:extLst>
          </p:cNvPr>
          <p:cNvSpPr>
            <a:spLocks noGrp="1" noChangeArrowheads="1"/>
          </p:cNvSpPr>
          <p:nvPr>
            <p:ph type="sldImg"/>
          </p:nvPr>
        </p:nvSpPr>
        <p:spPr bwMode="auto">
          <a:xfrm>
            <a:off x="533400" y="763588"/>
            <a:ext cx="6702425" cy="3770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1DCE007-3224-5B22-F5DF-5C803D64B993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39E8F2C-26A2-D0A4-59B9-7F43A5A0E4D2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371850" cy="501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AEEA8774-BD4D-BE48-20FF-7EFCDF576BD3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398963" y="0"/>
            <a:ext cx="3371850" cy="501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CB49DA17-D166-35A2-200F-4383302A7DBD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9555163"/>
            <a:ext cx="3371850" cy="501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17C5158C-34DB-8F42-6593-713E0B8CCAC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400" smtClean="0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fld id="{A6D53564-8D7F-C640-89E6-6850E2F1E7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>
            <a:extLst>
              <a:ext uri="{FF2B5EF4-FFF2-40B4-BE49-F238E27FC236}">
                <a16:creationId xmlns:a16="http://schemas.microsoft.com/office/drawing/2014/main" id="{92856806-B785-0EF6-8128-BE927E47B39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E594A172-1E41-F24A-B83B-6E3D06C6B0DE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7171" name="Text Box 1">
            <a:extLst>
              <a:ext uri="{FF2B5EF4-FFF2-40B4-BE49-F238E27FC236}">
                <a16:creationId xmlns:a16="http://schemas.microsoft.com/office/drawing/2014/main" id="{F86DBA94-E2F0-8788-BC99-3BAA83FBE6AD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2" name="Text Box 2">
            <a:extLst>
              <a:ext uri="{FF2B5EF4-FFF2-40B4-BE49-F238E27FC236}">
                <a16:creationId xmlns:a16="http://schemas.microsoft.com/office/drawing/2014/main" id="{5085EE4B-136A-E3FA-C610-7BFCBB1EE436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0EE902B1-3C1E-5FC3-5E73-145FB3B15BE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219B7BFA-DAA0-5A47-A44E-12D60449B626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2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9219" name="Text Box 1">
            <a:extLst>
              <a:ext uri="{FF2B5EF4-FFF2-40B4-BE49-F238E27FC236}">
                <a16:creationId xmlns:a16="http://schemas.microsoft.com/office/drawing/2014/main" id="{AA41382A-AF0C-0C4F-4B88-A7EE9575E482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Text Box 2">
            <a:extLst>
              <a:ext uri="{FF2B5EF4-FFF2-40B4-BE49-F238E27FC236}">
                <a16:creationId xmlns:a16="http://schemas.microsoft.com/office/drawing/2014/main" id="{8CD1F099-1757-7DDF-EE27-0939583923F5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>
            <a:extLst>
              <a:ext uri="{FF2B5EF4-FFF2-40B4-BE49-F238E27FC236}">
                <a16:creationId xmlns:a16="http://schemas.microsoft.com/office/drawing/2014/main" id="{31F526D1-29B1-C992-ACFD-917C6B3A63B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502E2D8D-D2F8-BE4A-8700-BBB75EE776BF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3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11267" name="Text Box 1">
            <a:extLst>
              <a:ext uri="{FF2B5EF4-FFF2-40B4-BE49-F238E27FC236}">
                <a16:creationId xmlns:a16="http://schemas.microsoft.com/office/drawing/2014/main" id="{19D0EA97-0C5F-F6A2-2865-CA6417F79CF0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8" name="Text Box 2">
            <a:extLst>
              <a:ext uri="{FF2B5EF4-FFF2-40B4-BE49-F238E27FC236}">
                <a16:creationId xmlns:a16="http://schemas.microsoft.com/office/drawing/2014/main" id="{4A2D5CCF-AC6E-3039-5223-93D034CD512F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F0F98123-3525-B45E-2648-9737991D4C5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5B92DEBC-21E8-1841-8077-1BD024EB9025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4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13315" name="Text Box 1">
            <a:extLst>
              <a:ext uri="{FF2B5EF4-FFF2-40B4-BE49-F238E27FC236}">
                <a16:creationId xmlns:a16="http://schemas.microsoft.com/office/drawing/2014/main" id="{18794DB3-2D26-80BC-791B-919F53E64766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316" name="Text Box 2">
            <a:extLst>
              <a:ext uri="{FF2B5EF4-FFF2-40B4-BE49-F238E27FC236}">
                <a16:creationId xmlns:a16="http://schemas.microsoft.com/office/drawing/2014/main" id="{001FC371-FBF1-0522-051B-4E4DE011F6A5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>
            <a:extLst>
              <a:ext uri="{FF2B5EF4-FFF2-40B4-BE49-F238E27FC236}">
                <a16:creationId xmlns:a16="http://schemas.microsoft.com/office/drawing/2014/main" id="{770B4D85-7E7F-A7B0-D022-0A249C8744F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2085F8FE-803B-9748-8DA4-1D3F2F10A544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5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15363" name="Text Box 1">
            <a:extLst>
              <a:ext uri="{FF2B5EF4-FFF2-40B4-BE49-F238E27FC236}">
                <a16:creationId xmlns:a16="http://schemas.microsoft.com/office/drawing/2014/main" id="{73854646-A8E9-EEB7-7574-DC0A6EE0F083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4" name="Text Box 2">
            <a:extLst>
              <a:ext uri="{FF2B5EF4-FFF2-40B4-BE49-F238E27FC236}">
                <a16:creationId xmlns:a16="http://schemas.microsoft.com/office/drawing/2014/main" id="{C0024B35-E68A-21D5-661D-ADD4156A1F91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>
            <a:extLst>
              <a:ext uri="{FF2B5EF4-FFF2-40B4-BE49-F238E27FC236}">
                <a16:creationId xmlns:a16="http://schemas.microsoft.com/office/drawing/2014/main" id="{53919ECC-2E40-6076-3271-5D05133C80D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5C311000-C445-5141-9348-CEA10583E362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6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17411" name="Text Box 1">
            <a:extLst>
              <a:ext uri="{FF2B5EF4-FFF2-40B4-BE49-F238E27FC236}">
                <a16:creationId xmlns:a16="http://schemas.microsoft.com/office/drawing/2014/main" id="{5EF81859-FE82-892A-5D0B-E26F701CF148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2" name="Text Box 2">
            <a:extLst>
              <a:ext uri="{FF2B5EF4-FFF2-40B4-BE49-F238E27FC236}">
                <a16:creationId xmlns:a16="http://schemas.microsoft.com/office/drawing/2014/main" id="{D710EEBC-DB8D-73BD-47A7-9243688B44AA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7E9BA76C-7D7A-56FF-F214-AA36709DE63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762AF03E-80A1-014A-9B08-7FAFBEE6F44A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7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19459" name="Text Box 1">
            <a:extLst>
              <a:ext uri="{FF2B5EF4-FFF2-40B4-BE49-F238E27FC236}">
                <a16:creationId xmlns:a16="http://schemas.microsoft.com/office/drawing/2014/main" id="{0E2EBB47-E91A-C346-CECD-C192060F0C47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0" name="Text Box 2">
            <a:extLst>
              <a:ext uri="{FF2B5EF4-FFF2-40B4-BE49-F238E27FC236}">
                <a16:creationId xmlns:a16="http://schemas.microsoft.com/office/drawing/2014/main" id="{97383CB8-BAEB-94DC-C4A4-A534F2DD1D0D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id="{C786E43F-FFA7-BB73-2FE0-92EEE61DD10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773A6104-7F59-D446-AF7B-B592E63D51B7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8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21507" name="Text Box 1">
            <a:extLst>
              <a:ext uri="{FF2B5EF4-FFF2-40B4-BE49-F238E27FC236}">
                <a16:creationId xmlns:a16="http://schemas.microsoft.com/office/drawing/2014/main" id="{8DB5BDCF-BA17-5BB8-7D9A-3D1214D03D50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1508" name="Text Box 2">
            <a:extLst>
              <a:ext uri="{FF2B5EF4-FFF2-40B4-BE49-F238E27FC236}">
                <a16:creationId xmlns:a16="http://schemas.microsoft.com/office/drawing/2014/main" id="{0DDB50FB-3E0F-33FE-7D80-93F2B1D8DA24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>
            <a:extLst>
              <a:ext uri="{FF2B5EF4-FFF2-40B4-BE49-F238E27FC236}">
                <a16:creationId xmlns:a16="http://schemas.microsoft.com/office/drawing/2014/main" id="{D11C4EBE-EFB5-3282-AF09-59F5454C6C6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2391CF24-BCCC-D14B-A712-CA2EA54AD09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9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23555" name="Text Box 1">
            <a:extLst>
              <a:ext uri="{FF2B5EF4-FFF2-40B4-BE49-F238E27FC236}">
                <a16:creationId xmlns:a16="http://schemas.microsoft.com/office/drawing/2014/main" id="{0F0CF267-355A-2E76-7618-802278414E44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6" name="Text Box 2">
            <a:extLst>
              <a:ext uri="{FF2B5EF4-FFF2-40B4-BE49-F238E27FC236}">
                <a16:creationId xmlns:a16="http://schemas.microsoft.com/office/drawing/2014/main" id="{111AEC04-92D6-C30E-73FF-9676CFCE39A7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>
            <a:extLst>
              <a:ext uri="{FF2B5EF4-FFF2-40B4-BE49-F238E27FC236}">
                <a16:creationId xmlns:a16="http://schemas.microsoft.com/office/drawing/2014/main" id="{14AF2583-89EA-B21C-BD20-4226BD87A6E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770F98A5-EF69-8147-A755-8476E62E0AB2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10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25603" name="Text Box 1">
            <a:extLst>
              <a:ext uri="{FF2B5EF4-FFF2-40B4-BE49-F238E27FC236}">
                <a16:creationId xmlns:a16="http://schemas.microsoft.com/office/drawing/2014/main" id="{DC3CA7F9-26FB-DCF5-FCEE-7169159E9286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4" name="Text Box 2">
            <a:extLst>
              <a:ext uri="{FF2B5EF4-FFF2-40B4-BE49-F238E27FC236}">
                <a16:creationId xmlns:a16="http://schemas.microsoft.com/office/drawing/2014/main" id="{97D2814F-C6D2-1C7B-AA4C-68AC57ABCBA5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>
            <a:extLst>
              <a:ext uri="{FF2B5EF4-FFF2-40B4-BE49-F238E27FC236}">
                <a16:creationId xmlns:a16="http://schemas.microsoft.com/office/drawing/2014/main" id="{C2EED285-ABBD-8820-EACE-7EA8817B7C9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D2F80178-A3A5-264B-975A-9B4A1705ED1F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11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27651" name="Text Box 1">
            <a:extLst>
              <a:ext uri="{FF2B5EF4-FFF2-40B4-BE49-F238E27FC236}">
                <a16:creationId xmlns:a16="http://schemas.microsoft.com/office/drawing/2014/main" id="{EA6CFCBC-605F-4916-F8E6-3BC397A62F36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Text Box 2">
            <a:extLst>
              <a:ext uri="{FF2B5EF4-FFF2-40B4-BE49-F238E27FC236}">
                <a16:creationId xmlns:a16="http://schemas.microsoft.com/office/drawing/2014/main" id="{FAD2EAF5-E831-F216-6988-201BAD34B9E8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>
            <a:extLst>
              <a:ext uri="{FF2B5EF4-FFF2-40B4-BE49-F238E27FC236}">
                <a16:creationId xmlns:a16="http://schemas.microsoft.com/office/drawing/2014/main" id="{6E41CBD5-C0CF-791D-E686-BD38CA30DE0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AC7EF125-2766-9F4C-A70D-C7799CCCAED8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12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29699" name="Text Box 1">
            <a:extLst>
              <a:ext uri="{FF2B5EF4-FFF2-40B4-BE49-F238E27FC236}">
                <a16:creationId xmlns:a16="http://schemas.microsoft.com/office/drawing/2014/main" id="{DB1DC4A5-4DEA-969C-6876-35881FC135BD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700" name="Text Box 2">
            <a:extLst>
              <a:ext uri="{FF2B5EF4-FFF2-40B4-BE49-F238E27FC236}">
                <a16:creationId xmlns:a16="http://schemas.microsoft.com/office/drawing/2014/main" id="{A68B1C2D-4F68-A3A7-997A-396FA817A0C2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>
            <a:extLst>
              <a:ext uri="{FF2B5EF4-FFF2-40B4-BE49-F238E27FC236}">
                <a16:creationId xmlns:a16="http://schemas.microsoft.com/office/drawing/2014/main" id="{930AF30B-05B8-F5F9-34E3-A2BDFC6F857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C2BA45AB-C50F-A54E-B67E-3BBF579F931E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13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31747" name="Text Box 1">
            <a:extLst>
              <a:ext uri="{FF2B5EF4-FFF2-40B4-BE49-F238E27FC236}">
                <a16:creationId xmlns:a16="http://schemas.microsoft.com/office/drawing/2014/main" id="{133A9938-246D-2088-AB92-05D4481F998F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Text Box 2">
            <a:extLst>
              <a:ext uri="{FF2B5EF4-FFF2-40B4-BE49-F238E27FC236}">
                <a16:creationId xmlns:a16="http://schemas.microsoft.com/office/drawing/2014/main" id="{755ECA6F-669C-F2FA-BDD0-CC479231ED42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6">
            <a:extLst>
              <a:ext uri="{FF2B5EF4-FFF2-40B4-BE49-F238E27FC236}">
                <a16:creationId xmlns:a16="http://schemas.microsoft.com/office/drawing/2014/main" id="{44557456-1068-79E5-F7FD-9F3E7C0A410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54335BEC-4B96-8D4D-93B8-A56EBB27B2B4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14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33795" name="Text Box 1">
            <a:extLst>
              <a:ext uri="{FF2B5EF4-FFF2-40B4-BE49-F238E27FC236}">
                <a16:creationId xmlns:a16="http://schemas.microsoft.com/office/drawing/2014/main" id="{4CA431AC-CF82-32A4-7934-5571DF94BEAF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Text Box 2">
            <a:extLst>
              <a:ext uri="{FF2B5EF4-FFF2-40B4-BE49-F238E27FC236}">
                <a16:creationId xmlns:a16="http://schemas.microsoft.com/office/drawing/2014/main" id="{94EB5D67-9C87-2461-C10C-C25A557C5814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6">
            <a:extLst>
              <a:ext uri="{FF2B5EF4-FFF2-40B4-BE49-F238E27FC236}">
                <a16:creationId xmlns:a16="http://schemas.microsoft.com/office/drawing/2014/main" id="{A6648607-480F-A445-61D9-5D8D1E703E5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9DDD7A1C-8B3E-6B40-8C80-F544558C4078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15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35843" name="Text Box 1">
            <a:extLst>
              <a:ext uri="{FF2B5EF4-FFF2-40B4-BE49-F238E27FC236}">
                <a16:creationId xmlns:a16="http://schemas.microsoft.com/office/drawing/2014/main" id="{5A9CEB83-CF1E-F289-3AD6-FD26DDF63879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844" name="Text Box 2">
            <a:extLst>
              <a:ext uri="{FF2B5EF4-FFF2-40B4-BE49-F238E27FC236}">
                <a16:creationId xmlns:a16="http://schemas.microsoft.com/office/drawing/2014/main" id="{ECAB9437-3333-4C8D-FA33-1705B5A04266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6">
            <a:extLst>
              <a:ext uri="{FF2B5EF4-FFF2-40B4-BE49-F238E27FC236}">
                <a16:creationId xmlns:a16="http://schemas.microsoft.com/office/drawing/2014/main" id="{106D90E7-5CE3-332E-BEB6-D2DC4B1157D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793CE4A8-8BB9-8E41-B7CE-E3A933337A15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16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37891" name="Text Box 1">
            <a:extLst>
              <a:ext uri="{FF2B5EF4-FFF2-40B4-BE49-F238E27FC236}">
                <a16:creationId xmlns:a16="http://schemas.microsoft.com/office/drawing/2014/main" id="{B3FBB388-644C-F5B5-3548-19085B7EBEE2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7892" name="Text Box 2">
            <a:extLst>
              <a:ext uri="{FF2B5EF4-FFF2-40B4-BE49-F238E27FC236}">
                <a16:creationId xmlns:a16="http://schemas.microsoft.com/office/drawing/2014/main" id="{F781C4A4-641B-110B-3433-08C7BB0B5160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6">
            <a:extLst>
              <a:ext uri="{FF2B5EF4-FFF2-40B4-BE49-F238E27FC236}">
                <a16:creationId xmlns:a16="http://schemas.microsoft.com/office/drawing/2014/main" id="{858A0A7B-0014-C1CB-A1B8-73C194A5C91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67E813DE-35A1-4141-917F-60AEE9A6AD2C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17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39939" name="Text Box 1">
            <a:extLst>
              <a:ext uri="{FF2B5EF4-FFF2-40B4-BE49-F238E27FC236}">
                <a16:creationId xmlns:a16="http://schemas.microsoft.com/office/drawing/2014/main" id="{615A7BD9-BF5A-5799-68B6-FD051863A7C9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40" name="Text Box 2">
            <a:extLst>
              <a:ext uri="{FF2B5EF4-FFF2-40B4-BE49-F238E27FC236}">
                <a16:creationId xmlns:a16="http://schemas.microsoft.com/office/drawing/2014/main" id="{98AA4B23-EE24-C653-75EC-EE7F86204A0C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>
            <a:extLst>
              <a:ext uri="{FF2B5EF4-FFF2-40B4-BE49-F238E27FC236}">
                <a16:creationId xmlns:a16="http://schemas.microsoft.com/office/drawing/2014/main" id="{D911F9FB-02FD-D7D5-11DF-102575CE896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E350B62C-1436-B340-86B4-FEF4307000A7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18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41987" name="Text Box 1">
            <a:extLst>
              <a:ext uri="{FF2B5EF4-FFF2-40B4-BE49-F238E27FC236}">
                <a16:creationId xmlns:a16="http://schemas.microsoft.com/office/drawing/2014/main" id="{375FA46E-B84D-CF8B-0A3A-41871C54A2FB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8" name="Text Box 2">
            <a:extLst>
              <a:ext uri="{FF2B5EF4-FFF2-40B4-BE49-F238E27FC236}">
                <a16:creationId xmlns:a16="http://schemas.microsoft.com/office/drawing/2014/main" id="{68D6CD30-9A64-551A-840B-37D2DAE27EEB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>
            <a:extLst>
              <a:ext uri="{FF2B5EF4-FFF2-40B4-BE49-F238E27FC236}">
                <a16:creationId xmlns:a16="http://schemas.microsoft.com/office/drawing/2014/main" id="{DECF71C6-742D-4503-CDE4-C81FB4FE0A3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28340766-B170-5542-B50E-6DEDD1E0A200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19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44035" name="Text Box 1">
            <a:extLst>
              <a:ext uri="{FF2B5EF4-FFF2-40B4-BE49-F238E27FC236}">
                <a16:creationId xmlns:a16="http://schemas.microsoft.com/office/drawing/2014/main" id="{00838117-DEF5-AB7F-C0EC-68EF92EE66AD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4036" name="Text Box 2">
            <a:extLst>
              <a:ext uri="{FF2B5EF4-FFF2-40B4-BE49-F238E27FC236}">
                <a16:creationId xmlns:a16="http://schemas.microsoft.com/office/drawing/2014/main" id="{62EDBBCA-124F-A773-FD33-496AAC510D9F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6">
            <a:extLst>
              <a:ext uri="{FF2B5EF4-FFF2-40B4-BE49-F238E27FC236}">
                <a16:creationId xmlns:a16="http://schemas.microsoft.com/office/drawing/2014/main" id="{F36BA3A1-B7CB-33E6-18EC-798CE3021B9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DC6D71CC-253B-DD43-B8C5-7B7A0EAEBE34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20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46083" name="Text Box 1">
            <a:extLst>
              <a:ext uri="{FF2B5EF4-FFF2-40B4-BE49-F238E27FC236}">
                <a16:creationId xmlns:a16="http://schemas.microsoft.com/office/drawing/2014/main" id="{DED36B89-FB8D-AFC2-C7DD-89562378702D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6084" name="Text Box 2">
            <a:extLst>
              <a:ext uri="{FF2B5EF4-FFF2-40B4-BE49-F238E27FC236}">
                <a16:creationId xmlns:a16="http://schemas.microsoft.com/office/drawing/2014/main" id="{0BAC2D39-DB45-7587-F7A9-AAAE59E648E7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6">
            <a:extLst>
              <a:ext uri="{FF2B5EF4-FFF2-40B4-BE49-F238E27FC236}">
                <a16:creationId xmlns:a16="http://schemas.microsoft.com/office/drawing/2014/main" id="{CEE12388-9ADE-857E-584C-0CFF10A2414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2E7620D8-8754-B44E-89FA-54371EE1E283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21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48131" name="Text Box 1">
            <a:extLst>
              <a:ext uri="{FF2B5EF4-FFF2-40B4-BE49-F238E27FC236}">
                <a16:creationId xmlns:a16="http://schemas.microsoft.com/office/drawing/2014/main" id="{F66D5ABF-EEC9-C9DF-D4E7-0810CD713376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8132" name="Text Box 2">
            <a:extLst>
              <a:ext uri="{FF2B5EF4-FFF2-40B4-BE49-F238E27FC236}">
                <a16:creationId xmlns:a16="http://schemas.microsoft.com/office/drawing/2014/main" id="{49F93209-B18D-6C40-BE30-D179F5831E9B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6">
            <a:extLst>
              <a:ext uri="{FF2B5EF4-FFF2-40B4-BE49-F238E27FC236}">
                <a16:creationId xmlns:a16="http://schemas.microsoft.com/office/drawing/2014/main" id="{42B0E400-29D5-055C-CA5B-FD19861FA81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722B900D-6AF5-414A-B466-A743669932C7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22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50179" name="Text Box 1">
            <a:extLst>
              <a:ext uri="{FF2B5EF4-FFF2-40B4-BE49-F238E27FC236}">
                <a16:creationId xmlns:a16="http://schemas.microsoft.com/office/drawing/2014/main" id="{F9DCC3B4-7375-EC2D-85C7-22ACE27A0F71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0180" name="Text Box 2">
            <a:extLst>
              <a:ext uri="{FF2B5EF4-FFF2-40B4-BE49-F238E27FC236}">
                <a16:creationId xmlns:a16="http://schemas.microsoft.com/office/drawing/2014/main" id="{8111297D-D9D7-0F1B-C511-907187AD40EF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6">
            <a:extLst>
              <a:ext uri="{FF2B5EF4-FFF2-40B4-BE49-F238E27FC236}">
                <a16:creationId xmlns:a16="http://schemas.microsoft.com/office/drawing/2014/main" id="{C801B2C4-765B-CFFD-2894-6E51ABD30C2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1D917B04-15B5-3342-BEA6-2FF474A01515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23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56323" name="Text Box 1">
            <a:extLst>
              <a:ext uri="{FF2B5EF4-FFF2-40B4-BE49-F238E27FC236}">
                <a16:creationId xmlns:a16="http://schemas.microsoft.com/office/drawing/2014/main" id="{96E2824B-4031-17EC-5F8B-30BC99ED3A40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6324" name="Text Box 2">
            <a:extLst>
              <a:ext uri="{FF2B5EF4-FFF2-40B4-BE49-F238E27FC236}">
                <a16:creationId xmlns:a16="http://schemas.microsoft.com/office/drawing/2014/main" id="{5CEE8BB7-0DC8-1314-0F75-32214C29BF1A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6">
            <a:extLst>
              <a:ext uri="{FF2B5EF4-FFF2-40B4-BE49-F238E27FC236}">
                <a16:creationId xmlns:a16="http://schemas.microsoft.com/office/drawing/2014/main" id="{0C8F36F3-FB00-8D36-C90C-4BF91A65EDE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64CF4D72-A4F3-D440-BD59-AA5D4DC92EF7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24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58371" name="Text Box 1">
            <a:extLst>
              <a:ext uri="{FF2B5EF4-FFF2-40B4-BE49-F238E27FC236}">
                <a16:creationId xmlns:a16="http://schemas.microsoft.com/office/drawing/2014/main" id="{3A373BC8-20B6-B6EB-3F98-44025235D5A0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8372" name="Text Box 2">
            <a:extLst>
              <a:ext uri="{FF2B5EF4-FFF2-40B4-BE49-F238E27FC236}">
                <a16:creationId xmlns:a16="http://schemas.microsoft.com/office/drawing/2014/main" id="{D99E8686-D7A4-AD94-A5E4-5C7C63D46F69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6">
            <a:extLst>
              <a:ext uri="{FF2B5EF4-FFF2-40B4-BE49-F238E27FC236}">
                <a16:creationId xmlns:a16="http://schemas.microsoft.com/office/drawing/2014/main" id="{6D172892-B2DB-BFF9-D14A-B5707B0DF6A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D48142DE-C3E3-CD48-A189-F1CC9D333F41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25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60419" name="Text Box 1">
            <a:extLst>
              <a:ext uri="{FF2B5EF4-FFF2-40B4-BE49-F238E27FC236}">
                <a16:creationId xmlns:a16="http://schemas.microsoft.com/office/drawing/2014/main" id="{0C0FAFF6-BD86-E47E-AD66-8E9DC9822D07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0420" name="Text Box 2">
            <a:extLst>
              <a:ext uri="{FF2B5EF4-FFF2-40B4-BE49-F238E27FC236}">
                <a16:creationId xmlns:a16="http://schemas.microsoft.com/office/drawing/2014/main" id="{F70F1B56-BABB-59E7-4BFF-C94F2070D5B1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6">
            <a:extLst>
              <a:ext uri="{FF2B5EF4-FFF2-40B4-BE49-F238E27FC236}">
                <a16:creationId xmlns:a16="http://schemas.microsoft.com/office/drawing/2014/main" id="{860A768A-0A3A-319B-002C-F01AE9890B0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fld id="{B7AEACBB-4566-C44F-9D42-36A9592F5A0A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DejaVu Sans" charset="0"/>
                <a:cs typeface="DejaVu Sans" charset="0"/>
              </a:rPr>
              <a:pPr/>
              <a:t>27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64515" name="Text Box 1">
            <a:extLst>
              <a:ext uri="{FF2B5EF4-FFF2-40B4-BE49-F238E27FC236}">
                <a16:creationId xmlns:a16="http://schemas.microsoft.com/office/drawing/2014/main" id="{4ADFF02D-9AF5-ED90-4D01-1EAD38263EC7}"/>
              </a:ext>
            </a:extLst>
          </p:cNvPr>
          <p:cNvSpPr txBox="1">
            <a:spLocks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4516" name="Text Box 2">
            <a:extLst>
              <a:ext uri="{FF2B5EF4-FFF2-40B4-BE49-F238E27FC236}">
                <a16:creationId xmlns:a16="http://schemas.microsoft.com/office/drawing/2014/main" id="{528CE322-9E26-0A2A-A6C6-EB386B173091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807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6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88751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9200" y="3209925"/>
            <a:ext cx="10895013" cy="7953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266613" y="3209925"/>
            <a:ext cx="10896600" cy="7953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985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205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405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30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2884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1639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373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678400" y="547688"/>
            <a:ext cx="5484813" cy="1061561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547688"/>
            <a:ext cx="16306800" cy="1061561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98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547688"/>
            <a:ext cx="21944013" cy="228758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38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4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42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6403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9200" y="3209925"/>
            <a:ext cx="10895013" cy="7953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266613" y="3209925"/>
            <a:ext cx="10896600" cy="79533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73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8235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274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73854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4076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56191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091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678400" y="547688"/>
            <a:ext cx="5484813" cy="1061561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547688"/>
            <a:ext cx="16306800" cy="1061561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31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">
            <a:extLst>
              <a:ext uri="{FF2B5EF4-FFF2-40B4-BE49-F238E27FC236}">
                <a16:creationId xmlns:a16="http://schemas.microsoft.com/office/drawing/2014/main" id="{C6EE44A8-35E8-669D-C684-25DACD7E0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12268200"/>
            <a:ext cx="21972588" cy="660400"/>
          </a:xfrm>
          <a:custGeom>
            <a:avLst/>
            <a:gdLst>
              <a:gd name="T0" fmla="*/ 0 w 61033"/>
              <a:gd name="T1" fmla="*/ 0 h 1836"/>
              <a:gd name="T2" fmla="*/ 21972228 w 61033"/>
              <a:gd name="T3" fmla="*/ 0 h 1836"/>
              <a:gd name="T4" fmla="*/ 21972228 w 61033"/>
              <a:gd name="T5" fmla="*/ 660040 h 1836"/>
              <a:gd name="T6" fmla="*/ 0 w 61033"/>
              <a:gd name="T7" fmla="*/ 660040 h 1836"/>
              <a:gd name="T8" fmla="*/ 0 w 61033"/>
              <a:gd name="T9" fmla="*/ 0 h 18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1033" h="1836">
                <a:moveTo>
                  <a:pt x="0" y="0"/>
                </a:moveTo>
                <a:lnTo>
                  <a:pt x="61032" y="0"/>
                </a:lnTo>
                <a:lnTo>
                  <a:pt x="61032" y="1835"/>
                </a:lnTo>
                <a:lnTo>
                  <a:pt x="0" y="1835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D94C1815-ADC1-FBC4-D4FA-B750F1E365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547688"/>
            <a:ext cx="21944013" cy="2287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6F4ACF7C-5DCA-5631-6611-3E6E902ECE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09925"/>
            <a:ext cx="21944013" cy="795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8448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txStyles>
    <p:titleStyle>
      <a:lvl1pPr algn="ctr" defTabSz="457200" rtl="0" eaLnBrk="0" fontAlgn="base" hangingPunct="0">
        <a:lnSpc>
          <a:spcPct val="9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lnSpc>
          <a:spcPct val="9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FF"/>
          </a:solidFill>
          <a:latin typeface="Arial" panose="020B0604020202020204" pitchFamily="34" charset="0"/>
          <a:ea typeface="Source Han Sans CN" charset="0"/>
          <a:cs typeface="Source Han Sans CN" charset="0"/>
        </a:defRPr>
      </a:lvl2pPr>
      <a:lvl3pPr algn="ctr" defTabSz="457200" rtl="0" eaLnBrk="0" fontAlgn="base" hangingPunct="0">
        <a:lnSpc>
          <a:spcPct val="9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FF"/>
          </a:solidFill>
          <a:latin typeface="Arial" panose="020B0604020202020204" pitchFamily="34" charset="0"/>
          <a:ea typeface="Source Han Sans CN" charset="0"/>
          <a:cs typeface="Source Han Sans CN" charset="0"/>
        </a:defRPr>
      </a:lvl3pPr>
      <a:lvl4pPr algn="ctr" defTabSz="457200" rtl="0" eaLnBrk="0" fontAlgn="base" hangingPunct="0">
        <a:lnSpc>
          <a:spcPct val="9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FF"/>
          </a:solidFill>
          <a:latin typeface="Arial" panose="020B0604020202020204" pitchFamily="34" charset="0"/>
          <a:ea typeface="Source Han Sans CN" charset="0"/>
          <a:cs typeface="Source Han Sans CN" charset="0"/>
        </a:defRPr>
      </a:lvl4pPr>
      <a:lvl5pPr algn="ctr" defTabSz="457200" rtl="0" eaLnBrk="0" fontAlgn="base" hangingPunct="0">
        <a:lnSpc>
          <a:spcPct val="9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FF"/>
          </a:solidFill>
          <a:latin typeface="Arial" panose="020B0604020202020204" pitchFamily="34" charset="0"/>
          <a:ea typeface="Source Han Sans CN" charset="0"/>
          <a:cs typeface="Source Han Sans CN" charset="0"/>
        </a:defRPr>
      </a:lvl5pPr>
      <a:lvl6pPr marL="2514600" indent="-228600" algn="ctr" defTabSz="457200" rtl="0" fontAlgn="base" hangingPunct="0">
        <a:lnSpc>
          <a:spcPct val="9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FF"/>
          </a:solidFill>
          <a:latin typeface="Arial" panose="020B0604020202020204" pitchFamily="34" charset="0"/>
          <a:ea typeface="Source Han Sans CN" charset="0"/>
          <a:cs typeface="Source Han Sans CN" charset="0"/>
        </a:defRPr>
      </a:lvl6pPr>
      <a:lvl7pPr marL="2971800" indent="-228600" algn="ctr" defTabSz="457200" rtl="0" fontAlgn="base" hangingPunct="0">
        <a:lnSpc>
          <a:spcPct val="9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FF"/>
          </a:solidFill>
          <a:latin typeface="Arial" panose="020B0604020202020204" pitchFamily="34" charset="0"/>
          <a:ea typeface="Source Han Sans CN" charset="0"/>
          <a:cs typeface="Source Han Sans CN" charset="0"/>
        </a:defRPr>
      </a:lvl7pPr>
      <a:lvl8pPr marL="3429000" indent="-228600" algn="ctr" defTabSz="457200" rtl="0" fontAlgn="base" hangingPunct="0">
        <a:lnSpc>
          <a:spcPct val="9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FF"/>
          </a:solidFill>
          <a:latin typeface="Arial" panose="020B0604020202020204" pitchFamily="34" charset="0"/>
          <a:ea typeface="Source Han Sans CN" charset="0"/>
          <a:cs typeface="Source Han Sans CN" charset="0"/>
        </a:defRPr>
      </a:lvl8pPr>
      <a:lvl9pPr marL="3886200" indent="-228600" algn="ctr" defTabSz="457200" rtl="0" fontAlgn="base" hangingPunct="0">
        <a:lnSpc>
          <a:spcPct val="9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FF"/>
          </a:solidFill>
          <a:latin typeface="Arial" panose="020B0604020202020204" pitchFamily="34" charset="0"/>
          <a:ea typeface="Source Han Sans CN" charset="0"/>
          <a:cs typeface="Source Han Sans CN" charset="0"/>
        </a:defRPr>
      </a:lvl9pPr>
    </p:titleStyle>
    <p:bodyStyle>
      <a:lvl1pPr marL="342900" indent="-342900" algn="l" defTabSz="457200" rtl="0" eaLnBrk="0" fontAlgn="base" hangingPunct="0">
        <a:lnSpc>
          <a:spcPct val="93000"/>
        </a:lnSpc>
        <a:spcBef>
          <a:spcPts val="1425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3200" kern="12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lnSpc>
          <a:spcPct val="93000"/>
        </a:lnSpc>
        <a:spcBef>
          <a:spcPts val="1138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FFFFFF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lnSpc>
          <a:spcPct val="93000"/>
        </a:lnSpc>
        <a:spcBef>
          <a:spcPts val="86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FFFFFF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lnSpc>
          <a:spcPct val="93000"/>
        </a:lnSpc>
        <a:spcBef>
          <a:spcPts val="575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FFFFFF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lnSpc>
          <a:spcPct val="93000"/>
        </a:lnSpc>
        <a:spcBef>
          <a:spcPts val="288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reeform 1">
            <a:extLst>
              <a:ext uri="{FF2B5EF4-FFF2-40B4-BE49-F238E27FC236}">
                <a16:creationId xmlns:a16="http://schemas.microsoft.com/office/drawing/2014/main" id="{5910E9BA-1134-6798-82A3-F42418974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2324100"/>
            <a:ext cx="21972588" cy="1003300"/>
          </a:xfrm>
          <a:custGeom>
            <a:avLst/>
            <a:gdLst>
              <a:gd name="T0" fmla="*/ 0 w 61033"/>
              <a:gd name="T1" fmla="*/ 0 h 2789"/>
              <a:gd name="T2" fmla="*/ 21972228 w 61033"/>
              <a:gd name="T3" fmla="*/ 0 h 2789"/>
              <a:gd name="T4" fmla="*/ 21972228 w 61033"/>
              <a:gd name="T5" fmla="*/ 1002940 h 2789"/>
              <a:gd name="T6" fmla="*/ 0 w 61033"/>
              <a:gd name="T7" fmla="*/ 1002940 h 2789"/>
              <a:gd name="T8" fmla="*/ 0 w 61033"/>
              <a:gd name="T9" fmla="*/ 0 h 27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1033" h="2789">
                <a:moveTo>
                  <a:pt x="0" y="0"/>
                </a:moveTo>
                <a:lnTo>
                  <a:pt x="61032" y="0"/>
                </a:lnTo>
                <a:lnTo>
                  <a:pt x="61032" y="2788"/>
                </a:lnTo>
                <a:lnTo>
                  <a:pt x="0" y="278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" name="Rectangle 2">
            <a:extLst>
              <a:ext uri="{FF2B5EF4-FFF2-40B4-BE49-F238E27FC236}">
                <a16:creationId xmlns:a16="http://schemas.microsoft.com/office/drawing/2014/main" id="{239C4D92-495A-F8BE-7C1A-5521F22646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547688"/>
            <a:ext cx="21944013" cy="2287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2052" name="Rectangle 3">
            <a:extLst>
              <a:ext uri="{FF2B5EF4-FFF2-40B4-BE49-F238E27FC236}">
                <a16:creationId xmlns:a16="http://schemas.microsoft.com/office/drawing/2014/main" id="{56811B2A-ED56-C4A0-2D25-9AB11ADAC6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09925"/>
            <a:ext cx="21944013" cy="795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8448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defTabSz="457200" rtl="0" eaLnBrk="0" fontAlgn="base" hangingPunct="0">
        <a:lnSpc>
          <a:spcPct val="9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lnSpc>
          <a:spcPct val="9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FF"/>
          </a:solidFill>
          <a:latin typeface="Arial" panose="020B0604020202020204" pitchFamily="34" charset="0"/>
          <a:ea typeface="Source Han Sans CN" charset="0"/>
          <a:cs typeface="Source Han Sans CN" charset="0"/>
        </a:defRPr>
      </a:lvl2pPr>
      <a:lvl3pPr algn="ctr" defTabSz="457200" rtl="0" eaLnBrk="0" fontAlgn="base" hangingPunct="0">
        <a:lnSpc>
          <a:spcPct val="9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FF"/>
          </a:solidFill>
          <a:latin typeface="Arial" panose="020B0604020202020204" pitchFamily="34" charset="0"/>
          <a:ea typeface="Source Han Sans CN" charset="0"/>
          <a:cs typeface="Source Han Sans CN" charset="0"/>
        </a:defRPr>
      </a:lvl3pPr>
      <a:lvl4pPr algn="ctr" defTabSz="457200" rtl="0" eaLnBrk="0" fontAlgn="base" hangingPunct="0">
        <a:lnSpc>
          <a:spcPct val="9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FF"/>
          </a:solidFill>
          <a:latin typeface="Arial" panose="020B0604020202020204" pitchFamily="34" charset="0"/>
          <a:ea typeface="Source Han Sans CN" charset="0"/>
          <a:cs typeface="Source Han Sans CN" charset="0"/>
        </a:defRPr>
      </a:lvl4pPr>
      <a:lvl5pPr algn="ctr" defTabSz="457200" rtl="0" eaLnBrk="0" fontAlgn="base" hangingPunct="0">
        <a:lnSpc>
          <a:spcPct val="9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FF"/>
          </a:solidFill>
          <a:latin typeface="Arial" panose="020B0604020202020204" pitchFamily="34" charset="0"/>
          <a:ea typeface="Source Han Sans CN" charset="0"/>
          <a:cs typeface="Source Han Sans CN" charset="0"/>
        </a:defRPr>
      </a:lvl5pPr>
      <a:lvl6pPr marL="2514600" indent="-228600" algn="ctr" defTabSz="457200" rtl="0" fontAlgn="base" hangingPunct="0">
        <a:lnSpc>
          <a:spcPct val="9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FF"/>
          </a:solidFill>
          <a:latin typeface="Arial" panose="020B0604020202020204" pitchFamily="34" charset="0"/>
          <a:ea typeface="Source Han Sans CN" charset="0"/>
          <a:cs typeface="Source Han Sans CN" charset="0"/>
        </a:defRPr>
      </a:lvl6pPr>
      <a:lvl7pPr marL="2971800" indent="-228600" algn="ctr" defTabSz="457200" rtl="0" fontAlgn="base" hangingPunct="0">
        <a:lnSpc>
          <a:spcPct val="9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FF"/>
          </a:solidFill>
          <a:latin typeface="Arial" panose="020B0604020202020204" pitchFamily="34" charset="0"/>
          <a:ea typeface="Source Han Sans CN" charset="0"/>
          <a:cs typeface="Source Han Sans CN" charset="0"/>
        </a:defRPr>
      </a:lvl7pPr>
      <a:lvl8pPr marL="3429000" indent="-228600" algn="ctr" defTabSz="457200" rtl="0" fontAlgn="base" hangingPunct="0">
        <a:lnSpc>
          <a:spcPct val="9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FF"/>
          </a:solidFill>
          <a:latin typeface="Arial" panose="020B0604020202020204" pitchFamily="34" charset="0"/>
          <a:ea typeface="Source Han Sans CN" charset="0"/>
          <a:cs typeface="Source Han Sans CN" charset="0"/>
        </a:defRPr>
      </a:lvl8pPr>
      <a:lvl9pPr marL="3886200" indent="-228600" algn="ctr" defTabSz="457200" rtl="0" fontAlgn="base" hangingPunct="0">
        <a:lnSpc>
          <a:spcPct val="93000"/>
        </a:lnSpc>
        <a:spcBef>
          <a:spcPts val="1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FFFFFF"/>
          </a:solidFill>
          <a:latin typeface="Arial" panose="020B0604020202020204" pitchFamily="34" charset="0"/>
          <a:ea typeface="Source Han Sans CN" charset="0"/>
          <a:cs typeface="Source Han Sans CN" charset="0"/>
        </a:defRPr>
      </a:lvl9pPr>
    </p:titleStyle>
    <p:bodyStyle>
      <a:lvl1pPr marL="342900" indent="-342900" algn="l" defTabSz="457200" rtl="0" eaLnBrk="0" fontAlgn="base" hangingPunct="0">
        <a:lnSpc>
          <a:spcPct val="93000"/>
        </a:lnSpc>
        <a:spcBef>
          <a:spcPts val="1425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3200" kern="12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lnSpc>
          <a:spcPct val="93000"/>
        </a:lnSpc>
        <a:spcBef>
          <a:spcPts val="1138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FFFFFF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lnSpc>
          <a:spcPct val="93000"/>
        </a:lnSpc>
        <a:spcBef>
          <a:spcPts val="863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FFFFFF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lnSpc>
          <a:spcPct val="93000"/>
        </a:lnSpc>
        <a:spcBef>
          <a:spcPts val="575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FFFFFF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lnSpc>
          <a:spcPct val="93000"/>
        </a:lnSpc>
        <a:spcBef>
          <a:spcPts val="288"/>
        </a:spcBef>
        <a:spcAft>
          <a:spcPts val="13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>
            <a:extLst>
              <a:ext uri="{FF2B5EF4-FFF2-40B4-BE49-F238E27FC236}">
                <a16:creationId xmlns:a16="http://schemas.microsoft.com/office/drawing/2014/main" id="{7837A27A-363F-CDF6-0F3F-313B3CEF5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2620963"/>
            <a:ext cx="1235075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133900" rIns="90000" bIns="45000" anchor="b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100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Quantitative Mathematics &amp;  Algorithms</a:t>
            </a:r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8E53BFCF-D9FC-D53C-5DE0-C7C21EB90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7048500"/>
            <a:ext cx="21971000" cy="3160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93895" rIns="90000" bIns="45000" anchor="b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55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Name:-Harsh Khandelwal</a:t>
            </a:r>
          </a:p>
          <a:p>
            <a:pPr eaLnBrk="1"/>
            <a:r>
              <a:rPr lang="en-US" altLang="en-US" sz="55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Collage :- Manipal University Jaipur</a:t>
            </a:r>
          </a:p>
        </p:txBody>
      </p:sp>
      <p:sp>
        <p:nvSpPr>
          <p:cNvPr id="6148" name="Text Box 3">
            <a:extLst>
              <a:ext uri="{FF2B5EF4-FFF2-40B4-BE49-F238E27FC236}">
                <a16:creationId xmlns:a16="http://schemas.microsoft.com/office/drawing/2014/main" id="{652448F5-D5F2-AEFD-A32F-E946D473B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12268200"/>
            <a:ext cx="21971000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lnSpc>
                <a:spcPct val="102000"/>
              </a:lnSpc>
            </a:pPr>
            <a:r>
              <a:rPr lang="en-US" altLang="en-US" sz="3300">
                <a:solidFill>
                  <a:srgbClr val="FFFFFF"/>
                </a:solidFill>
                <a:latin typeface="Impact" panose="020B0806030902050204" pitchFamily="34" charset="0"/>
                <a:ea typeface="Impact" panose="020B0806030902050204" pitchFamily="34" charset="0"/>
                <a:cs typeface="Impact" panose="020B0806030902050204" pitchFamily="34" charset="0"/>
              </a:rPr>
              <a:t>5 April 2026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">
            <a:extLst>
              <a:ext uri="{FF2B5EF4-FFF2-40B4-BE49-F238E27FC236}">
                <a16:creationId xmlns:a16="http://schemas.microsoft.com/office/drawing/2014/main" id="{09783268-C30C-0B99-4A64-B949167FC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635000"/>
            <a:ext cx="21971000" cy="168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24820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lnSpc>
                <a:spcPct val="84000"/>
              </a:lnSpc>
            </a:pPr>
            <a:r>
              <a:rPr lang="en-US" altLang="en-US" sz="10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INTRODUCTION</a:t>
            </a:r>
          </a:p>
        </p:txBody>
      </p:sp>
      <p:sp>
        <p:nvSpPr>
          <p:cNvPr id="8195" name="Text Box 2">
            <a:extLst>
              <a:ext uri="{FF2B5EF4-FFF2-40B4-BE49-F238E27FC236}">
                <a16:creationId xmlns:a16="http://schemas.microsoft.com/office/drawing/2014/main" id="{CDD299F5-F2B2-CFE8-90E1-39EB846FC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4260850"/>
            <a:ext cx="21971000" cy="10021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8056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1. What is Quantitative Mathematics ?</a:t>
            </a:r>
          </a:p>
          <a:p>
            <a:pPr eaLnBrk="1"/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</a:t>
            </a:r>
          </a:p>
          <a:p>
            <a:pPr eaLnBrk="1">
              <a:lnSpc>
                <a:spcPct val="112000"/>
              </a:lnSpc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Quantitative Mathematics is the art of using numbers, logic, and patterns to predict the future and make  better decisions.</a:t>
            </a:r>
          </a:p>
          <a:p>
            <a:pPr eaLnBrk="1">
              <a:lnSpc>
                <a:spcPct val="112000"/>
              </a:lnSpc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lnSpc>
                <a:spcPct val="112000"/>
              </a:lnSpc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It’s not just solving for x; it’s building a mathematical "map" of a complex system (like a  </a:t>
            </a:r>
          </a:p>
          <a:p>
            <a:pPr eaLnBrk="1">
              <a:lnSpc>
                <a:spcPct val="112000"/>
              </a:lnSpc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stock market or a  supply chain).</a:t>
            </a:r>
          </a:p>
          <a:p>
            <a:pPr eaLnBrk="1">
              <a:lnSpc>
                <a:spcPct val="112000"/>
              </a:lnSpc>
            </a:pPr>
            <a:endParaRPr lang="en-US" altLang="en-US">
              <a:solidFill>
                <a:srgbClr val="FFFFFF"/>
              </a:solidFill>
            </a:endParaRPr>
          </a:p>
          <a:p>
            <a:pPr eaLnBrk="1"/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It combines </a:t>
            </a:r>
            <a:r>
              <a:rPr lang="en-US" altLang="en-US" sz="4000" b="1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Probability</a:t>
            </a: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(guessing the odds), </a:t>
            </a:r>
            <a:r>
              <a:rPr lang="en-US" altLang="en-US" sz="4000" b="1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Statistics</a:t>
            </a: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(looking at the past), and   </a:t>
            </a:r>
          </a:p>
          <a:p>
            <a:pPr eaLnBrk="1"/>
            <a:r>
              <a:rPr lang="en-US" altLang="en-US" sz="4000" b="1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Algorithms</a:t>
            </a: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(making a plan)</a:t>
            </a:r>
          </a:p>
          <a:p>
            <a:pPr eaLnBrk="1"/>
            <a:endParaRPr lang="en-US" altLang="en-US">
              <a:solidFill>
                <a:srgbClr val="FFFFFF"/>
              </a:solidFill>
            </a:endParaRPr>
          </a:p>
          <a:p>
            <a:pPr eaLnBrk="1">
              <a:lnSpc>
                <a:spcPct val="112000"/>
              </a:lnSpc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lnSpc>
                <a:spcPct val="112000"/>
              </a:lnSpc>
            </a:pP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8196" name="Text Box 3">
            <a:extLst>
              <a:ext uri="{FF2B5EF4-FFF2-40B4-BE49-F238E27FC236}">
                <a16:creationId xmlns:a16="http://schemas.microsoft.com/office/drawing/2014/main" id="{056923D1-02F3-5E94-FCC7-9B2E423C7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2576513"/>
            <a:ext cx="219710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5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Introduction to Quantitative Mathematics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>
            <a:extLst>
              <a:ext uri="{FF2B5EF4-FFF2-40B4-BE49-F238E27FC236}">
                <a16:creationId xmlns:a16="http://schemas.microsoft.com/office/drawing/2014/main" id="{F0E583F2-B638-DDAA-B467-05ADF8CEE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1651000"/>
            <a:ext cx="21971000" cy="1086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8056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2. Why is it Important?</a:t>
            </a:r>
          </a:p>
          <a:p>
            <a:pPr eaLnBrk="1"/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  </a:t>
            </a:r>
          </a:p>
          <a:p>
            <a:pPr eaLnBrk="1"/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  </a:t>
            </a:r>
            <a:r>
              <a:rPr lang="en-US" altLang="en-US" sz="4000" b="1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Decentralizes Guesswork:</a:t>
            </a: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It removes human emotion (fear and greed) from decision- </a:t>
            </a:r>
          </a:p>
          <a:p>
            <a:pPr eaLnBrk="1"/>
            <a:endParaRPr lang="en-US" altLang="en-US">
              <a:solidFill>
                <a:srgbClr val="FFFFFF"/>
              </a:solidFill>
            </a:endParaRPr>
          </a:p>
          <a:p>
            <a:pPr eaLnBrk="1"/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  making</a:t>
            </a:r>
          </a:p>
          <a:p>
            <a:pPr eaLnBrk="1"/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  </a:t>
            </a:r>
          </a:p>
          <a:p>
            <a:pPr eaLnBrk="1"/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   </a:t>
            </a:r>
            <a:r>
              <a:rPr lang="en-US" altLang="en-US" sz="4000" b="1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Manages Risk:</a:t>
            </a: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It tells us exactly how much we stand to lose before we even start.</a:t>
            </a:r>
          </a:p>
          <a:p>
            <a:pPr eaLnBrk="1"/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213"/>
              </a:spcAft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  </a:t>
            </a:r>
            <a:r>
              <a:rPr lang="en-US" altLang="en-US" sz="4000" b="1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Efficiency:</a:t>
            </a: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It finds the "shortest path" to a solution that a human brain might take years  </a:t>
            </a:r>
          </a:p>
          <a:p>
            <a:pPr eaLnBrk="1">
              <a:spcAft>
                <a:spcPts val="1213"/>
              </a:spcAft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  to calculate.</a:t>
            </a:r>
          </a:p>
          <a:p>
            <a:pPr eaLnBrk="1"/>
            <a:endParaRPr lang="en-US" altLang="en-US">
              <a:solidFill>
                <a:srgbClr val="FFFFFF"/>
              </a:solidFill>
            </a:endParaRPr>
          </a:p>
          <a:p>
            <a:pPr eaLnBrk="1"/>
            <a:endParaRPr lang="en-US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1">
            <a:extLst>
              <a:ext uri="{FF2B5EF4-FFF2-40B4-BE49-F238E27FC236}">
                <a16:creationId xmlns:a16="http://schemas.microsoft.com/office/drawing/2014/main" id="{4EA71D01-1FEB-8F43-5313-1E6AD3997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1693863"/>
            <a:ext cx="21971000" cy="1082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80560" rIns="90000" bIns="45000"/>
          <a:lstStyle>
            <a:lvl1pPr marL="655638" indent="-515938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spcAft>
                <a:spcPts val="1413"/>
              </a:spcAft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3.  Real-World Impact (The "Jane Street" Perspective)</a:t>
            </a:r>
          </a:p>
          <a:p>
            <a:pPr eaLnBrk="1">
              <a:spcAft>
                <a:spcPts val="1413"/>
              </a:spcAft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Finance: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Algorithms that provide liquidity so people can buy and sell stocks instantly at fair prices.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Technology: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How GPS calculates your route or how Netflix knows what movie you’ll like next.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Global Logistics: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Ensuring that millions of packages delivered by companies like Amazon arrive on time using optimization math.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">
            <a:extLst>
              <a:ext uri="{FF2B5EF4-FFF2-40B4-BE49-F238E27FC236}">
                <a16:creationId xmlns:a16="http://schemas.microsoft.com/office/drawing/2014/main" id="{8D1C57BE-56B7-6A80-9F9B-9E0E0AE1A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635000"/>
            <a:ext cx="21971000" cy="168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24820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lnSpc>
                <a:spcPct val="84000"/>
              </a:lnSpc>
            </a:pPr>
            <a:r>
              <a:rPr lang="en-US" altLang="en-US" sz="10000">
                <a:solidFill>
                  <a:srgbClr val="FFFFFF"/>
                </a:solidFill>
                <a:latin typeface="Produkt-Extralight" pitchFamily="2" charset="77"/>
                <a:ea typeface="Produkt-Extralight" pitchFamily="2" charset="77"/>
                <a:cs typeface="Produkt-Extralight" pitchFamily="2" charset="77"/>
              </a:rPr>
              <a:t>Objectives</a:t>
            </a:r>
          </a:p>
        </p:txBody>
      </p:sp>
      <p:sp>
        <p:nvSpPr>
          <p:cNvPr id="14339" name="Text Box 2">
            <a:extLst>
              <a:ext uri="{FF2B5EF4-FFF2-40B4-BE49-F238E27FC236}">
                <a16:creationId xmlns:a16="http://schemas.microsoft.com/office/drawing/2014/main" id="{17E89E69-4D3F-4752-A931-B1C36D11C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4260850"/>
            <a:ext cx="21971000" cy="825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spcAft>
                <a:spcPts val="1413"/>
              </a:spcAft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1. Bridge Math &amp; Algorithms</a:t>
            </a:r>
          </a:p>
          <a:p>
            <a:pPr eaLnBrk="1">
              <a:lnSpc>
                <a:spcPct val="112000"/>
              </a:lnSpc>
              <a:spcAft>
                <a:spcPts val="1213"/>
              </a:spcAft>
            </a:pP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Transform abstract mathematical theories into functional, high-speed algorithms.</a:t>
            </a:r>
          </a:p>
          <a:p>
            <a:pPr eaLnBrk="1">
              <a:lnSpc>
                <a:spcPct val="112000"/>
              </a:lnSpc>
              <a:spcAft>
                <a:spcPts val="1213"/>
              </a:spcAft>
            </a:pP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Focus on </a:t>
            </a: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Stochastic Calculus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and </a:t>
            </a: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Probability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to drive decision-making.</a:t>
            </a:r>
          </a:p>
          <a:p>
            <a:pPr eaLnBrk="1">
              <a:lnSpc>
                <a:spcPct val="112000"/>
              </a:lnSpc>
              <a:spcAft>
                <a:spcPts val="1413"/>
              </a:spcAft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2. Master Competitive Analysis</a:t>
            </a:r>
          </a:p>
          <a:p>
            <a:pPr eaLnBrk="1">
              <a:lnSpc>
                <a:spcPct val="112000"/>
              </a:lnSpc>
              <a:spcAft>
                <a:spcPts val="1213"/>
              </a:spcAft>
            </a:pP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Analyse the strategies of industry leaders like </a:t>
            </a: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Jane Street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and </a:t>
            </a: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Citadel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.</a:t>
            </a:r>
          </a:p>
          <a:p>
            <a:pPr eaLnBrk="1">
              <a:lnSpc>
                <a:spcPct val="112000"/>
              </a:lnSpc>
              <a:spcAft>
                <a:spcPts val="1213"/>
              </a:spcAft>
            </a:pP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Identify "Alpha" (market edge) by studying where current industrial models fail.</a:t>
            </a:r>
          </a:p>
          <a:p>
            <a:pPr eaLnBrk="1">
              <a:lnSpc>
                <a:spcPct val="112000"/>
              </a:lnSpc>
              <a:spcAft>
                <a:spcPts val="1413"/>
              </a:spcAft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3. Real-World Application</a:t>
            </a:r>
          </a:p>
          <a:p>
            <a:pPr eaLnBrk="1">
              <a:lnSpc>
                <a:spcPct val="112000"/>
              </a:lnSpc>
              <a:spcAft>
                <a:spcPts val="1213"/>
              </a:spcAft>
            </a:pP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Solve high-stakes problems: Liquidity provision, risk management, and latency reduction.</a:t>
            </a:r>
          </a:p>
          <a:p>
            <a:pPr eaLnBrk="1">
              <a:lnSpc>
                <a:spcPct val="112000"/>
              </a:lnSpc>
              <a:spcAft>
                <a:spcPts val="1213"/>
              </a:spcAft>
            </a:pP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Apply </a:t>
            </a: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Design Thinking (DTI)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to ensure mathematical solutions are scalable and robust.</a:t>
            </a:r>
          </a:p>
          <a:p>
            <a:pPr eaLnBrk="1">
              <a:lnSpc>
                <a:spcPct val="112000"/>
              </a:lnSpc>
              <a:spcAft>
                <a:spcPts val="1213"/>
              </a:spcAft>
            </a:pP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14340" name="Text Box 3">
            <a:extLst>
              <a:ext uri="{FF2B5EF4-FFF2-40B4-BE49-F238E27FC236}">
                <a16:creationId xmlns:a16="http://schemas.microsoft.com/office/drawing/2014/main" id="{0494D886-1400-1603-62EA-3A5A97144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2320925"/>
            <a:ext cx="219710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5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Introduction to Quantitative Mathematics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1">
            <a:extLst>
              <a:ext uri="{FF2B5EF4-FFF2-40B4-BE49-F238E27FC236}">
                <a16:creationId xmlns:a16="http://schemas.microsoft.com/office/drawing/2014/main" id="{82DD726E-21C9-BB4B-79E6-FB906ED466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635000"/>
            <a:ext cx="21971000" cy="168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24820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lnSpc>
                <a:spcPct val="84000"/>
              </a:lnSpc>
            </a:pPr>
            <a:r>
              <a:rPr lang="en-US" altLang="en-US" sz="10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Core Subjects</a:t>
            </a:r>
          </a:p>
        </p:txBody>
      </p:sp>
      <p:sp>
        <p:nvSpPr>
          <p:cNvPr id="16387" name="Text Box 2">
            <a:extLst>
              <a:ext uri="{FF2B5EF4-FFF2-40B4-BE49-F238E27FC236}">
                <a16:creationId xmlns:a16="http://schemas.microsoft.com/office/drawing/2014/main" id="{7CDC4EC4-5B9C-325C-EFE6-A24EEE531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3635375"/>
            <a:ext cx="21971000" cy="888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80560" rIns="90000" bIns="45000"/>
          <a:lstStyle>
            <a:lvl1pPr marL="655638" indent="-515938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spcAft>
                <a:spcPts val="1413"/>
              </a:spcAft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1. Linear Algebra (Vectors &amp; Matrices)</a:t>
            </a:r>
          </a:p>
          <a:p>
            <a:pPr eaLnBrk="1">
              <a:spcAft>
                <a:spcPts val="1213"/>
              </a:spcAft>
            </a:pP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The language of modern datasets.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Math: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Ax=b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Project: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We use matrices to hold millions of data points from the stock market instantly.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413"/>
              </a:spcAft>
              <a:buClrTx/>
              <a:buSzTx/>
              <a:buFontTx/>
              <a:buNone/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2. Calculus (Optimization &amp; Flow)</a:t>
            </a:r>
          </a:p>
          <a:p>
            <a:pPr eaLnBrk="1">
              <a:spcAft>
                <a:spcPts val="1213"/>
              </a:spcAft>
              <a:buClrTx/>
              <a:buSzTx/>
              <a:buFontTx/>
              <a:buNone/>
            </a:pP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The math of how things change.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Math: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dxdf =0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Project: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Finding the </a:t>
            </a: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optimal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price to buy or sell a stock to maximize profit and minimize risk.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413"/>
              </a:spcAft>
              <a:buClrTx/>
              <a:buSzTx/>
              <a:buFontTx/>
              <a:buNone/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3. Probability &amp; Statistics (Predicting Risk)</a:t>
            </a:r>
          </a:p>
          <a:p>
            <a:pPr eaLnBrk="1">
              <a:spcAft>
                <a:spcPts val="1213"/>
              </a:spcAft>
              <a:buClrTx/>
              <a:buSzTx/>
              <a:buFontTx/>
              <a:buNone/>
            </a:pP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The science of measuring uncertainty.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Math: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P(A∣B)=P(B)P(B∣A)P(A)  (Bayes' Theorem).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Project: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Calculating the odds of a market crash so we know when to stay safe.</a:t>
            </a:r>
          </a:p>
        </p:txBody>
      </p:sp>
      <p:sp>
        <p:nvSpPr>
          <p:cNvPr id="16388" name="Text Box 3">
            <a:extLst>
              <a:ext uri="{FF2B5EF4-FFF2-40B4-BE49-F238E27FC236}">
                <a16:creationId xmlns:a16="http://schemas.microsoft.com/office/drawing/2014/main" id="{54B6887F-52C7-1FD0-C848-FA852A0EA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2320925"/>
            <a:ext cx="219710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5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Introduction to Quantitative Mathematics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">
            <a:extLst>
              <a:ext uri="{FF2B5EF4-FFF2-40B4-BE49-F238E27FC236}">
                <a16:creationId xmlns:a16="http://schemas.microsoft.com/office/drawing/2014/main" id="{EB7256F9-D01C-1D42-AB38-31E17162B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1890713"/>
            <a:ext cx="21971000" cy="1062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655638" indent="-515938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spcAft>
                <a:spcPts val="1413"/>
              </a:spcAft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4. Abstract Algebra (Group Theory &amp; Logic)</a:t>
            </a:r>
          </a:p>
          <a:p>
            <a:pPr eaLnBrk="1">
              <a:lnSpc>
                <a:spcPct val="187000"/>
              </a:lnSpc>
              <a:spcAft>
                <a:spcPts val="1213"/>
              </a:spcAft>
            </a:pP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The rules of how patterns can be manipulated.</a:t>
            </a:r>
          </a:p>
          <a:p>
            <a:pPr eaLnBrk="1">
              <a:lnSpc>
                <a:spcPct val="187000"/>
              </a:lnSpc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Project: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Essential for cryptography and defining the fundamental logic of our algorithm.</a:t>
            </a:r>
          </a:p>
          <a:p>
            <a:pPr eaLnBrk="1">
              <a:lnSpc>
                <a:spcPct val="187000"/>
              </a:lnSpc>
              <a:spcAft>
                <a:spcPts val="1413"/>
              </a:spcAft>
              <a:buClrTx/>
              <a:buSzTx/>
              <a:buFontTx/>
              <a:buNone/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5. Graph Theory (Network Mapping)</a:t>
            </a:r>
          </a:p>
          <a:p>
            <a:pPr eaLnBrk="1">
              <a:lnSpc>
                <a:spcPct val="187000"/>
              </a:lnSpc>
              <a:spcAft>
                <a:spcPts val="1213"/>
              </a:spcAft>
              <a:buClrTx/>
              <a:buSzTx/>
              <a:buFontTx/>
              <a:buNone/>
            </a:pP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The math of connections.</a:t>
            </a:r>
          </a:p>
          <a:p>
            <a:pPr eaLnBrk="1">
              <a:lnSpc>
                <a:spcPct val="187000"/>
              </a:lnSpc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Math: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Nodes (things) + Edges (connections).</a:t>
            </a:r>
          </a:p>
          <a:p>
            <a:pPr eaLnBrk="1">
              <a:lnSpc>
                <a:spcPct val="187000"/>
              </a:lnSpc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Project: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Visualizing how different markets (e.g., Bitcoin and S&amp;P 500) are "connected" to each other (Cointegration).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1">
            <a:extLst>
              <a:ext uri="{FF2B5EF4-FFF2-40B4-BE49-F238E27FC236}">
                <a16:creationId xmlns:a16="http://schemas.microsoft.com/office/drawing/2014/main" id="{0964E31E-E1BB-4DF2-3C8E-F725D456E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" y="649288"/>
            <a:ext cx="21971000" cy="1203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9834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6000" u="sng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The DTI Quantitative Engine :- </a:t>
            </a:r>
          </a:p>
          <a:p>
            <a:pPr eaLnBrk="1">
              <a:spcAft>
                <a:spcPts val="1613"/>
              </a:spcAft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613"/>
              </a:spcAft>
            </a:pPr>
            <a:r>
              <a:rPr lang="en-US" altLang="en-US" sz="1600" u="sng">
                <a:solidFill>
                  <a:srgbClr val="373737"/>
                </a:solidFill>
                <a:latin typeface="HelveticaNeue" panose="02000503000000020004" pitchFamily="2" charset="0"/>
                <a:ea typeface="HelveticaNeue" panose="02000503000000020004" pitchFamily="2" charset="0"/>
                <a:cs typeface="HelveticaNeue" panose="02000503000000020004" pitchFamily="2" charset="0"/>
              </a:rPr>
              <a:t>￼</a:t>
            </a:r>
          </a:p>
          <a:p>
            <a:pPr eaLnBrk="1">
              <a:spcAft>
                <a:spcPts val="1613"/>
              </a:spcAft>
            </a:pPr>
            <a:r>
              <a:rPr lang="en-US" altLang="en-US" sz="1600" u="sng">
                <a:solidFill>
                  <a:srgbClr val="373737"/>
                </a:solidFill>
                <a:latin typeface="HelveticaNeue" panose="02000503000000020004" pitchFamily="2" charset="0"/>
                <a:ea typeface="HelveticaNeue" panose="02000503000000020004" pitchFamily="2" charset="0"/>
                <a:cs typeface="HelveticaNeue" panose="02000503000000020004" pitchFamily="2" charset="0"/>
              </a:rPr>
              <a:t>￼</a:t>
            </a:r>
          </a:p>
        </p:txBody>
      </p:sp>
      <p:pic>
        <p:nvPicPr>
          <p:cNvPr id="20483" name="Picture 2">
            <a:extLst>
              <a:ext uri="{FF2B5EF4-FFF2-40B4-BE49-F238E27FC236}">
                <a16:creationId xmlns:a16="http://schemas.microsoft.com/office/drawing/2014/main" id="{79DDFBF9-479E-D936-5F52-D54D1B1AD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9625" y="5348288"/>
            <a:ext cx="6959600" cy="695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484" name="Picture 3">
            <a:extLst>
              <a:ext uri="{FF2B5EF4-FFF2-40B4-BE49-F238E27FC236}">
                <a16:creationId xmlns:a16="http://schemas.microsoft.com/office/drawing/2014/main" id="{FB7C12BF-05CF-3849-3F27-D752CA47A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0575" y="1782763"/>
            <a:ext cx="8247063" cy="324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1">
            <a:extLst>
              <a:ext uri="{FF2B5EF4-FFF2-40B4-BE49-F238E27FC236}">
                <a16:creationId xmlns:a16="http://schemas.microsoft.com/office/drawing/2014/main" id="{33649B85-F1F6-8C44-4884-067BBEE71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635000"/>
            <a:ext cx="21971000" cy="168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107229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7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Probability – The Language of Uncertainty</a:t>
            </a:r>
          </a:p>
        </p:txBody>
      </p:sp>
      <p:sp>
        <p:nvSpPr>
          <p:cNvPr id="22531" name="Text Box 2">
            <a:extLst>
              <a:ext uri="{FF2B5EF4-FFF2-40B4-BE49-F238E27FC236}">
                <a16:creationId xmlns:a16="http://schemas.microsoft.com/office/drawing/2014/main" id="{A88565DD-1B4D-EF07-1FA0-A0D99A63E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3505200"/>
            <a:ext cx="21971000" cy="901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8945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spcAft>
                <a:spcPts val="1413"/>
              </a:spcAft>
            </a:pPr>
            <a:r>
              <a:rPr lang="en-US" altLang="en-US" sz="5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1. Expected Value (E[X])</a:t>
            </a:r>
          </a:p>
          <a:p>
            <a:pPr eaLnBrk="1">
              <a:spcAft>
                <a:spcPts val="1213"/>
              </a:spcAft>
            </a:pPr>
            <a:r>
              <a:rPr lang="en-US" altLang="en-US" sz="5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The average outcome you expect to see if you repeat an experiment thousands of times. It is the "Fair Price" of any bet or trade.</a:t>
            </a:r>
          </a:p>
          <a:p>
            <a:pPr eaLnBrk="1">
              <a:spcAft>
                <a:spcPts val="1213"/>
              </a:spcAft>
            </a:pPr>
            <a:r>
              <a:rPr lang="en-US" altLang="en-US" sz="5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The Formula:</a:t>
            </a:r>
          </a:p>
          <a:p>
            <a:pPr eaLnBrk="1">
              <a:spcAft>
                <a:spcPts val="1213"/>
              </a:spcAft>
            </a:pPr>
            <a:endParaRPr lang="en-US" altLang="en-US">
              <a:solidFill>
                <a:srgbClr val="FFFFFF"/>
              </a:solidFill>
            </a:endParaRPr>
          </a:p>
          <a:p>
            <a:pPr eaLnBrk="1"/>
            <a:r>
              <a:rPr lang="en-US" altLang="en-US" sz="5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E[X]=∑xP(x)</a:t>
            </a:r>
          </a:p>
          <a:p>
            <a:pPr eaLnBrk="1"/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213"/>
              </a:spcAft>
            </a:pPr>
            <a:r>
              <a:rPr lang="en-US" altLang="en-US" sz="5000" i="1">
                <a:solidFill>
                  <a:srgbClr val="000000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(</a:t>
            </a:r>
            <a:r>
              <a:rPr lang="en-US" altLang="en-US" sz="5000" i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Where x is the outcome and P(x) is the probability of that outcome.)</a:t>
            </a:r>
          </a:p>
          <a:p>
            <a:pPr eaLnBrk="1">
              <a:spcAft>
                <a:spcPts val="1413"/>
              </a:spcAft>
            </a:pPr>
            <a:r>
              <a:rPr lang="en-US" altLang="en-US" sz="5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2. Linearity of Expectation</a:t>
            </a:r>
          </a:p>
          <a:p>
            <a:pPr eaLnBrk="1">
              <a:spcAft>
                <a:spcPts val="1213"/>
              </a:spcAft>
            </a:pPr>
            <a:r>
              <a:rPr lang="en-US" altLang="en-US" sz="5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The most powerful tool in a Quant's toolkit.</a:t>
            </a:r>
          </a:p>
          <a:p>
            <a:pPr eaLnBrk="1">
              <a:spcAft>
                <a:spcPts val="1213"/>
              </a:spcAft>
            </a:pPr>
            <a:r>
              <a:rPr lang="en-US" altLang="en-US" sz="5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It allows us to break a massive, complex portfolio into small pieces to calculate total risk.</a:t>
            </a:r>
          </a:p>
          <a:p>
            <a:pPr eaLnBrk="1">
              <a:spcAft>
                <a:spcPts val="1213"/>
              </a:spcAft>
            </a:pPr>
            <a:r>
              <a:rPr lang="en-US" altLang="en-US" sz="5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Property:</a:t>
            </a:r>
            <a:r>
              <a:rPr lang="en-US" altLang="en-US" sz="5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E[X+Y]=E[X]+E[Y]</a:t>
            </a:r>
          </a:p>
          <a:p>
            <a:pPr eaLnBrk="1">
              <a:spcAft>
                <a:spcPts val="1213"/>
              </a:spcAft>
            </a:pPr>
            <a:r>
              <a:rPr lang="en-US" altLang="en-US" sz="5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Rule:</a:t>
            </a:r>
            <a:r>
              <a:rPr lang="en-US" altLang="en-US" sz="5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This holds true even if the events are dependent on each other!</a:t>
            </a:r>
          </a:p>
          <a:p>
            <a:pPr eaLnBrk="1"/>
            <a:endParaRPr lang="en-US" altLang="en-US">
              <a:solidFill>
                <a:srgbClr val="FFFFFF"/>
              </a:solidFill>
            </a:endParaRPr>
          </a:p>
          <a:p>
            <a:pPr eaLnBrk="1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2532" name="Text Box 3">
            <a:extLst>
              <a:ext uri="{FF2B5EF4-FFF2-40B4-BE49-F238E27FC236}">
                <a16:creationId xmlns:a16="http://schemas.microsoft.com/office/drawing/2014/main" id="{B98D422F-63D9-6728-D06E-ED8B2849F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2320925"/>
            <a:ext cx="219710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5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Introduction to Quantitative Mathematics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1">
            <a:extLst>
              <a:ext uri="{FF2B5EF4-FFF2-40B4-BE49-F238E27FC236}">
                <a16:creationId xmlns:a16="http://schemas.microsoft.com/office/drawing/2014/main" id="{AE0B7E1A-E92E-4BF6-368F-68501F0F4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1582738"/>
            <a:ext cx="21971000" cy="1093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8056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spcAft>
                <a:spcPts val="1413"/>
              </a:spcAft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3. Small Example (The Industrial Bet)</a:t>
            </a:r>
          </a:p>
          <a:p>
            <a:pPr eaLnBrk="1">
              <a:spcAft>
                <a:spcPts val="1213"/>
              </a:spcAft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Scenario: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You have a 10% chance to win $100 and a 90% chance to win $0.</a:t>
            </a:r>
          </a:p>
          <a:p>
            <a:pPr eaLnBrk="1">
              <a:spcAft>
                <a:spcPts val="1213"/>
              </a:spcAft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Calculation: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 E[X]=(100×0.10)+(0×0.90)  E[X]=10+0=$10 </a:t>
            </a:r>
          </a:p>
          <a:p>
            <a:pPr eaLnBrk="1">
              <a:spcAft>
                <a:spcPts val="1213"/>
              </a:spcAft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Industrial Decision: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If the "entry fee" to this trade is </a:t>
            </a: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$8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, you take it because your </a:t>
            </a: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Expected Value ($10)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is higher than the cost.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1">
            <a:extLst>
              <a:ext uri="{FF2B5EF4-FFF2-40B4-BE49-F238E27FC236}">
                <a16:creationId xmlns:a16="http://schemas.microsoft.com/office/drawing/2014/main" id="{B1C1E73B-1B87-F4CC-CE09-276BF2DA4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635000"/>
            <a:ext cx="21971000" cy="168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18724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spcAft>
                <a:spcPts val="1500"/>
              </a:spcAft>
            </a:pPr>
            <a:r>
              <a:rPr lang="en-US" altLang="en-US" sz="5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Linear Algebra — The Data Engine</a:t>
            </a:r>
          </a:p>
          <a:p>
            <a:pPr eaLnBrk="1">
              <a:spcAft>
                <a:spcPts val="1213"/>
              </a:spcAft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213"/>
              </a:spcAft>
            </a:pP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6627" name="Text Box 2">
            <a:extLst>
              <a:ext uri="{FF2B5EF4-FFF2-40B4-BE49-F238E27FC236}">
                <a16:creationId xmlns:a16="http://schemas.microsoft.com/office/drawing/2014/main" id="{E0A0F8B3-D4C3-AD34-BB7D-DE70E7E46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3867150"/>
            <a:ext cx="21971000" cy="865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61002" rIns="90000" bIns="45000"/>
          <a:lstStyle>
            <a:lvl1pPr marL="655638" indent="-515938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spcAft>
                <a:spcPts val="1500"/>
              </a:spcAft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lnSpc>
                <a:spcPct val="140000"/>
              </a:lnSpc>
              <a:spcAft>
                <a:spcPts val="1413"/>
              </a:spcAft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Matrices (The Data Grid)</a:t>
            </a:r>
          </a:p>
          <a:p>
            <a:pPr eaLnBrk="1">
              <a:lnSpc>
                <a:spcPct val="140000"/>
              </a:lnSpc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Definition: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A rectangular array of numbers arranged in rows and columns.</a:t>
            </a:r>
          </a:p>
          <a:p>
            <a:pPr eaLnBrk="1">
              <a:lnSpc>
                <a:spcPct val="140000"/>
              </a:lnSpc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Industry Use: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At firms like Jane Street, a matrix represents a "Snapshot" of the entire market (prices, volumes, and volatility) at a single millisecond.</a:t>
            </a:r>
          </a:p>
          <a:p>
            <a:pPr eaLnBrk="1">
              <a:lnSpc>
                <a:spcPct val="140000"/>
              </a:lnSpc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 b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Example:</a:t>
            </a: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A 2×2 Matrix</a:t>
            </a:r>
          </a:p>
          <a:p>
            <a:pPr eaLnBrk="1">
              <a:lnSpc>
                <a:spcPct val="140000"/>
              </a:lnSpc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[[ 1 , 2]  , [2,1]</a:t>
            </a:r>
          </a:p>
          <a:p>
            <a:pPr eaLnBrk="1">
              <a:lnSpc>
                <a:spcPct val="140000"/>
              </a:lnSpc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[[ 3,4] , [5,67]]</a:t>
            </a:r>
          </a:p>
        </p:txBody>
      </p:sp>
      <p:sp>
        <p:nvSpPr>
          <p:cNvPr id="26628" name="Text Box 3">
            <a:extLst>
              <a:ext uri="{FF2B5EF4-FFF2-40B4-BE49-F238E27FC236}">
                <a16:creationId xmlns:a16="http://schemas.microsoft.com/office/drawing/2014/main" id="{49074EF5-6B35-EC8A-C875-9844B9D78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2320925"/>
            <a:ext cx="219710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5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Introduction to Quantitative Mathematics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1">
            <a:extLst>
              <a:ext uri="{FF2B5EF4-FFF2-40B4-BE49-F238E27FC236}">
                <a16:creationId xmlns:a16="http://schemas.microsoft.com/office/drawing/2014/main" id="{7CC87803-5AC0-54F8-2839-FABAC199A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949325"/>
            <a:ext cx="21971000" cy="1126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80560" rIns="90000" bIns="45000"/>
          <a:lstStyle>
            <a:lvl1pPr marL="655638" indent="-515938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spcAft>
                <a:spcPts val="1413"/>
              </a:spcAft>
            </a:pPr>
            <a:r>
              <a:rPr lang="en-US" altLang="en-US" sz="4000" b="1" dirty="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Eigenvalues (The Core Scaling)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 b="1" dirty="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Simple Concept:</a:t>
            </a:r>
            <a:r>
              <a:rPr lang="en-US" altLang="en-US" sz="4000" dirty="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When you transform a matrix, most vectors get knocked off their path. </a:t>
            </a:r>
            <a:r>
              <a:rPr lang="en-US" altLang="en-US" sz="4000" b="1" dirty="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Eigenvectors</a:t>
            </a:r>
            <a:r>
              <a:rPr lang="en-US" altLang="en-US" sz="4000" dirty="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stay on their path, and </a:t>
            </a:r>
            <a:r>
              <a:rPr lang="en-US" altLang="en-US" sz="4000" b="1" dirty="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Eigenvalues</a:t>
            </a:r>
            <a:r>
              <a:rPr lang="en-US" altLang="en-US" sz="4000" dirty="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tell you how much they were stretched or squashed.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 b="1" dirty="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Industrial Application:</a:t>
            </a:r>
            <a:r>
              <a:rPr lang="en-US" altLang="en-US" sz="4000" dirty="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Used in </a:t>
            </a:r>
            <a:r>
              <a:rPr lang="en-US" altLang="en-US" sz="4000" b="1" dirty="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Principal Component Analysis (PCA)</a:t>
            </a:r>
            <a:r>
              <a:rPr lang="en-US" altLang="en-US" sz="4000" dirty="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to find the most important "hidden" factor driving a stock's price while ignoring the noise.</a:t>
            </a:r>
          </a:p>
          <a:p>
            <a:pPr eaLnBrk="1">
              <a:spcAft>
                <a:spcPts val="1413"/>
              </a:spcAft>
              <a:buClrTx/>
              <a:buSzTx/>
              <a:buFontTx/>
              <a:buNone/>
            </a:pPr>
            <a:endParaRPr lang="en-US" altLang="en-US" dirty="0">
              <a:solidFill>
                <a:srgbClr val="FFFFFF"/>
              </a:solidFill>
            </a:endParaRPr>
          </a:p>
          <a:p>
            <a:pPr eaLnBrk="1">
              <a:spcAft>
                <a:spcPts val="1413"/>
              </a:spcAft>
              <a:buClrTx/>
              <a:buSzTx/>
              <a:buFontTx/>
              <a:buNone/>
            </a:pPr>
            <a:r>
              <a:rPr lang="en-US" altLang="en-US" sz="4000" b="1" dirty="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Graph Laplacian (Network Health)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 b="1" dirty="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What it is:</a:t>
            </a:r>
            <a:r>
              <a:rPr lang="en-US" altLang="en-US" sz="4000" dirty="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A </a:t>
            </a:r>
            <a:r>
              <a:rPr lang="en-US" altLang="en-US" sz="4000" dirty="0" err="1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specialised</a:t>
            </a:r>
            <a:r>
              <a:rPr lang="en-US" altLang="en-US" sz="4000" dirty="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matrix used to represent the "connections" in a network (like a group of correlated stocks).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 b="1" dirty="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Why it Matters:</a:t>
            </a:r>
            <a:r>
              <a:rPr lang="en-US" altLang="en-US" sz="4000" dirty="0">
                <a:solidFill>
                  <a:srgbClr val="FFFFFF"/>
                </a:solidFill>
                <a:latin typeface="Graphik-Bold" panose="020B0503030202060203" pitchFamily="34" charset="77"/>
                <a:ea typeface="Graphik-Bold" panose="020B0503030202060203" pitchFamily="34" charset="77"/>
                <a:cs typeface="Graphik-Bold" panose="020B0503030202060203" pitchFamily="34" charset="77"/>
              </a:rPr>
              <a:t> It helps quants detect "Clusters." If five stocks are in the same cluster, they will likely crash or rise together.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B8855B7A-8EE9-B4D0-53D2-4CAA4F1AB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635000"/>
            <a:ext cx="21971000" cy="168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24820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lnSpc>
                <a:spcPct val="84000"/>
              </a:lnSpc>
            </a:pPr>
            <a:r>
              <a:rPr lang="en-US" altLang="en-US" sz="10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Optimisation</a:t>
            </a: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06A9562E-D9E5-B357-5F8F-6A52AD73E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4260850"/>
            <a:ext cx="21971000" cy="825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89450" rIns="90000" bIns="45000"/>
          <a:lstStyle>
            <a:lvl1pPr marL="781050" indent="-64135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 marL="920750" indent="-64135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spcAft>
                <a:spcPts val="1213"/>
              </a:spcAft>
            </a:pPr>
            <a:r>
              <a:rPr lang="en-US" altLang="en-US" sz="5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Optimisation</a:t>
            </a:r>
          </a:p>
          <a:p>
            <a:pPr eaLnBrk="1">
              <a:spcAft>
                <a:spcPts val="1213"/>
              </a:spcAft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endParaRPr lang="en-US" altLang="en-US">
              <a:solidFill>
                <a:srgbClr val="FFFFFF"/>
              </a:solidFill>
            </a:endParaRPr>
          </a:p>
          <a:p>
            <a:pPr lvl="1" eaLnBrk="1"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5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What is it? Process of finding the best solution by maximising benefit or minimising cost under constraints.</a:t>
            </a:r>
          </a:p>
          <a:p>
            <a:pPr lvl="1" eaLnBrk="1"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5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Linear Programming (LP) Mathematical technique using linear equations </a:t>
            </a:r>
          </a:p>
          <a:p>
            <a:pPr eaLnBrk="1"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5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Used to maximise profit / minimise cost</a:t>
            </a:r>
          </a:p>
        </p:txBody>
      </p:sp>
      <p:sp>
        <p:nvSpPr>
          <p:cNvPr id="30724" name="Text Box 3">
            <a:extLst>
              <a:ext uri="{FF2B5EF4-FFF2-40B4-BE49-F238E27FC236}">
                <a16:creationId xmlns:a16="http://schemas.microsoft.com/office/drawing/2014/main" id="{D2CAAC5D-04FE-9CD2-5075-412EF76A4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2573338"/>
            <a:ext cx="219710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5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Introduction to Quantitative Mathematics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1">
            <a:extLst>
              <a:ext uri="{FF2B5EF4-FFF2-40B4-BE49-F238E27FC236}">
                <a16:creationId xmlns:a16="http://schemas.microsoft.com/office/drawing/2014/main" id="{64737683-3414-83F5-52DE-2FAB2311E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635000"/>
            <a:ext cx="21971000" cy="168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11612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8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Number Theory — The Logic of Systems</a:t>
            </a:r>
          </a:p>
        </p:txBody>
      </p:sp>
      <p:sp>
        <p:nvSpPr>
          <p:cNvPr id="32771" name="Text Box 2">
            <a:extLst>
              <a:ext uri="{FF2B5EF4-FFF2-40B4-BE49-F238E27FC236}">
                <a16:creationId xmlns:a16="http://schemas.microsoft.com/office/drawing/2014/main" id="{09BD69FA-8C59-4583-D00C-D80D4DFE2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4260850"/>
            <a:ext cx="21971000" cy="825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80560" rIns="90000" bIns="45000"/>
          <a:lstStyle>
            <a:lvl1pPr marL="655638" indent="-515938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spcAft>
                <a:spcPts val="1413"/>
              </a:spcAft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Greatest Common Divisor (GCD)</a:t>
            </a:r>
          </a:p>
          <a:p>
            <a:pPr eaLnBrk="1">
              <a:spcAft>
                <a:spcPts val="1413"/>
              </a:spcAft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Definition: The largest positive integer that divides two or more integers without a remainder.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Industry Use: Used in Algorithm Optimization to find the most efficient "sampling rate" for high-frequency data packets.</a:t>
            </a:r>
          </a:p>
          <a:p>
            <a:pPr eaLnBrk="1">
              <a:spcAft>
                <a:spcPts val="1413"/>
              </a:spcAft>
              <a:buClrTx/>
              <a:buSzTx/>
              <a:buFontTx/>
              <a:buNone/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413"/>
              </a:spcAft>
              <a:buClrTx/>
              <a:buSzTx/>
              <a:buFontTx/>
              <a:buNone/>
            </a:pP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2772" name="Text Box 3">
            <a:extLst>
              <a:ext uri="{FF2B5EF4-FFF2-40B4-BE49-F238E27FC236}">
                <a16:creationId xmlns:a16="http://schemas.microsoft.com/office/drawing/2014/main" id="{520430F4-BB63-18E4-9628-618AC1ABC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2601913"/>
            <a:ext cx="219710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5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Introduction to Quantitative Mathematics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>
            <a:extLst>
              <a:ext uri="{FF2B5EF4-FFF2-40B4-BE49-F238E27FC236}">
                <a16:creationId xmlns:a16="http://schemas.microsoft.com/office/drawing/2014/main" id="{D6B63D32-63E9-F81B-25BB-1EE73C9D4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1557338"/>
            <a:ext cx="21971000" cy="1095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80560" rIns="90000" bIns="45000"/>
          <a:lstStyle>
            <a:lvl1pPr marL="655638" indent="-515938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spcAft>
                <a:spcPts val="1413"/>
              </a:spcAft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Modular Arithmetic (Clock Math)</a:t>
            </a:r>
          </a:p>
          <a:p>
            <a:pPr eaLnBrk="1">
              <a:spcAft>
                <a:spcPts val="1413"/>
              </a:spcAft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The Concept: A system of arithmetic for integers where numbers "wrap around" after reaching a certain value (the modulus).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Industrial Application: Critical for Hashing Algorithms and Cryptography (RSA). It ensures that data remains secure and organised in large databases.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413"/>
              </a:spcAft>
              <a:buClrTx/>
              <a:buSzTx/>
              <a:buFontTx/>
              <a:buNone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Fast Exponentiation</a:t>
            </a:r>
          </a:p>
          <a:p>
            <a:pPr eaLnBrk="1">
              <a:spcAft>
                <a:spcPts val="1413"/>
              </a:spcAft>
              <a:buClrTx/>
              <a:buSzTx/>
              <a:buFontTx/>
              <a:buNone/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The Goal: Calculating a^n(mod m) in lightning-fast steps, even if n is a massive number.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Why it Matters: In quantitative finance, speed is everything. Fast exponentiation allows for rapid calculation of complex interest or risk models without crashing the CPU.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">
            <a:extLst>
              <a:ext uri="{FF2B5EF4-FFF2-40B4-BE49-F238E27FC236}">
                <a16:creationId xmlns:a16="http://schemas.microsoft.com/office/drawing/2014/main" id="{6AC34167-80CD-B79D-6149-4E93918A1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635000"/>
            <a:ext cx="21971000" cy="168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11612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8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Graph Theory — The Science of Connectivity</a:t>
            </a:r>
          </a:p>
        </p:txBody>
      </p:sp>
      <p:sp>
        <p:nvSpPr>
          <p:cNvPr id="36867" name="Text Box 2">
            <a:extLst>
              <a:ext uri="{FF2B5EF4-FFF2-40B4-BE49-F238E27FC236}">
                <a16:creationId xmlns:a16="http://schemas.microsoft.com/office/drawing/2014/main" id="{12AA5D6F-1CB2-5991-909A-A6B101789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4457700"/>
            <a:ext cx="21971000" cy="825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655638" indent="-515938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spcAft>
                <a:spcPts val="1413"/>
              </a:spcAft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BFS / DFS (Searching the Network)</a:t>
            </a:r>
          </a:p>
          <a:p>
            <a:pPr eaLnBrk="1">
              <a:lnSpc>
                <a:spcPct val="140000"/>
              </a:lnSpc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Breadth-First Search (BFS): Exploring layer by layer. Used to find the "closest" related assets in a market.</a:t>
            </a:r>
          </a:p>
          <a:p>
            <a:pPr eaLnBrk="1">
              <a:lnSpc>
                <a:spcPct val="140000"/>
              </a:lnSpc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lnSpc>
                <a:spcPct val="140000"/>
              </a:lnSpc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Depth-First Search (DFS): Exploring as deep as possible. Used to trace complex "chains" of transactions or ownership.</a:t>
            </a:r>
          </a:p>
          <a:p>
            <a:pPr eaLnBrk="1">
              <a:lnSpc>
                <a:spcPct val="140000"/>
              </a:lnSpc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lnSpc>
                <a:spcPct val="140000"/>
              </a:lnSpc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Industry Use: Detecting "Circular Trading" or market manipulation by tracing how money moves through accounts.</a:t>
            </a:r>
          </a:p>
          <a:p>
            <a:pPr eaLnBrk="1">
              <a:lnSpc>
                <a:spcPct val="140000"/>
              </a:lnSpc>
              <a:spcAft>
                <a:spcPts val="1413"/>
              </a:spcAft>
              <a:buClrTx/>
              <a:buSzTx/>
              <a:buFontTx/>
              <a:buNone/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lnSpc>
                <a:spcPct val="140000"/>
              </a:lnSpc>
              <a:spcAft>
                <a:spcPts val="1413"/>
              </a:spcAft>
              <a:buClrTx/>
              <a:buSzTx/>
              <a:buFontTx/>
              <a:buNone/>
            </a:pP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36868" name="Text Box 3">
            <a:extLst>
              <a:ext uri="{FF2B5EF4-FFF2-40B4-BE49-F238E27FC236}">
                <a16:creationId xmlns:a16="http://schemas.microsoft.com/office/drawing/2014/main" id="{901D20F5-7C43-5579-E492-AEB28CB3E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2601913"/>
            <a:ext cx="219710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5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Introduction to Quantitative Mathematics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ext Box 1">
            <a:extLst>
              <a:ext uri="{FF2B5EF4-FFF2-40B4-BE49-F238E27FC236}">
                <a16:creationId xmlns:a16="http://schemas.microsoft.com/office/drawing/2014/main" id="{5A51A680-5B66-DFC7-F8C8-E2D011CFF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1314450"/>
            <a:ext cx="21971000" cy="11799888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80560" rIns="90000" bIns="45000"/>
          <a:lstStyle>
            <a:lvl1pPr marL="655638" indent="-515938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lnSpc>
                <a:spcPct val="93000"/>
              </a:lnSpc>
              <a:spcBef>
                <a:spcPts val="13"/>
              </a:spcBef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Shortest Path (Efficiency)</a:t>
            </a:r>
          </a:p>
          <a:p>
            <a:pPr eaLnBrk="1">
              <a:lnSpc>
                <a:spcPct val="93000"/>
              </a:lnSpc>
              <a:spcBef>
                <a:spcPts val="13"/>
              </a:spcBef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  <a:defRPr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The Concept: Finding the most efficient route between two points (Dijkstra’s Algorithm).</a:t>
            </a:r>
          </a:p>
          <a:p>
            <a:pPr eaLnBrk="1">
              <a:lnSpc>
                <a:spcPct val="93000"/>
              </a:lnSpc>
              <a:spcBef>
                <a:spcPts val="13"/>
              </a:spcBef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  <a:defRPr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Industrial Application: Essential for Order Routing. When a firm like Jane Street wants to buy a stock, the algorithm finds the "shortest path" through various global exchanges to get the best price with the lowest fee.</a:t>
            </a:r>
          </a:p>
          <a:p>
            <a:pPr marL="968375" indent="-511175" eaLnBrk="1">
              <a:lnSpc>
                <a:spcPct val="93000"/>
              </a:lnSpc>
              <a:spcBef>
                <a:spcPts val="13"/>
              </a:spcBef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  <a:defRPr/>
            </a:pPr>
            <a:endParaRPr lang="en-US" altLang="en-US">
              <a:solidFill>
                <a:srgbClr val="FFFFFF"/>
              </a:solidFill>
            </a:endParaRPr>
          </a:p>
          <a:p>
            <a:pPr marL="968375" indent="-511175" eaLnBrk="1">
              <a:lnSpc>
                <a:spcPct val="93000"/>
              </a:lnSpc>
              <a:spcBef>
                <a:spcPts val="13"/>
              </a:spcBef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  <a:defRPr/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lnSpc>
                <a:spcPct val="93000"/>
              </a:lnSpc>
              <a:spcBef>
                <a:spcPts val="13"/>
              </a:spcBef>
              <a:spcAft>
                <a:spcPts val="1413"/>
              </a:spcAft>
              <a:defRPr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Minimum Spanning Tree (MST)</a:t>
            </a:r>
          </a:p>
          <a:p>
            <a:pPr eaLnBrk="1">
              <a:lnSpc>
                <a:spcPct val="93000"/>
              </a:lnSpc>
              <a:spcBef>
                <a:spcPts val="13"/>
              </a:spcBef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  <a:defRPr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Definition: A subset of a graph that connects all points with the minimum possible total edge weight.</a:t>
            </a:r>
          </a:p>
          <a:p>
            <a:pPr eaLnBrk="1">
              <a:lnSpc>
                <a:spcPct val="93000"/>
              </a:lnSpc>
              <a:spcBef>
                <a:spcPts val="13"/>
              </a:spcBef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  <a:defRPr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Why it Matters: In quantitative finance, an MST is used to filter a "Correlation Matrix." It shows the skeleton of the market—identifying which stocks truly drive the movement of others and which are just "noise."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>
            <a:extLst>
              <a:ext uri="{FF2B5EF4-FFF2-40B4-BE49-F238E27FC236}">
                <a16:creationId xmlns:a16="http://schemas.microsoft.com/office/drawing/2014/main" id="{143114D4-E804-1FC6-4E3F-473C4EDDB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635000"/>
            <a:ext cx="21971000" cy="168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11612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80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Competitive Programming — The Strategy Lab</a:t>
            </a:r>
          </a:p>
        </p:txBody>
      </p:sp>
      <p:sp>
        <p:nvSpPr>
          <p:cNvPr id="40963" name="Text Box 2">
            <a:extLst>
              <a:ext uri="{FF2B5EF4-FFF2-40B4-BE49-F238E27FC236}">
                <a16:creationId xmlns:a16="http://schemas.microsoft.com/office/drawing/2014/main" id="{474666DC-4E7E-40C6-B6F6-F7161105B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4260850"/>
            <a:ext cx="21971000" cy="825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80560" rIns="90000" bIns="45000"/>
          <a:lstStyle>
            <a:lvl1pPr marL="655638" indent="-515938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spcAft>
                <a:spcPts val="1413"/>
              </a:spcAft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What is it?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The Definition: It is a mental sport where programmers solve well-defined algorithmic and mathematical challenges under strict time and memory constraints.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The Tools: Using languages like C++, Python, or OCaml to implement the core math subjects (Graph Theory, Number Theory, etc.) we just discussed.</a:t>
            </a:r>
          </a:p>
          <a:p>
            <a:pPr eaLnBrk="1">
              <a:spcAft>
                <a:spcPts val="1413"/>
              </a:spcAft>
              <a:buClrTx/>
              <a:buSzTx/>
              <a:buFontTx/>
              <a:buNone/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413"/>
              </a:spcAft>
              <a:buClrTx/>
              <a:buSzTx/>
              <a:buFontTx/>
              <a:buNone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Why is it Important?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The Industrial Edge: Firms like Jane Street and Google use competitive programming platforms (like Codeforces or LeetCode) to find the best quants.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Speed of Thought: It trains you to find the "Optimal Solution" (e.g., O(nlogn) instead of O(n2)) in seconds.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Accuracy: In HFT, a small bug in a math formula can lead to a "Flash Crash." Competitive programming builds the habit of writing bug-free logic.</a:t>
            </a:r>
          </a:p>
          <a:p>
            <a:pPr eaLnBrk="1">
              <a:spcAft>
                <a:spcPts val="1413"/>
              </a:spcAft>
              <a:buClrTx/>
              <a:buSzTx/>
              <a:buFontTx/>
              <a:buNone/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413"/>
              </a:spcAft>
              <a:buClrTx/>
              <a:buSzTx/>
              <a:buFontTx/>
              <a:buNone/>
            </a:pP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40964" name="Text Box 3">
            <a:extLst>
              <a:ext uri="{FF2B5EF4-FFF2-40B4-BE49-F238E27FC236}">
                <a16:creationId xmlns:a16="http://schemas.microsoft.com/office/drawing/2014/main" id="{6744A20B-F82F-F585-DEB3-6325BC5A7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2601913"/>
            <a:ext cx="219710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5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Introduction to Quantitative Mathematics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1">
            <a:extLst>
              <a:ext uri="{FF2B5EF4-FFF2-40B4-BE49-F238E27FC236}">
                <a16:creationId xmlns:a16="http://schemas.microsoft.com/office/drawing/2014/main" id="{EC99BF46-05A3-D248-EF0C-1810BDAF1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513" y="2730500"/>
            <a:ext cx="21971000" cy="825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80560" rIns="90000" bIns="45000"/>
          <a:lstStyle>
            <a:lvl1pPr marL="655638" indent="-515938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spcAft>
                <a:spcPts val="1413"/>
              </a:spcAft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Skills Needed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Data Structures: Mastering Arrays, Stacks, Queues, and Heaps to store market data.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Algorithmic Thinking: Knowing when to use Dynamic Programming vs. Greedy Algorithms.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Mathematical Intuition: The ability to see a word problem and instantly recognize the underlying Number Theory or Geometry.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1">
            <a:extLst>
              <a:ext uri="{FF2B5EF4-FFF2-40B4-BE49-F238E27FC236}">
                <a16:creationId xmlns:a16="http://schemas.microsoft.com/office/drawing/2014/main" id="{91569BB9-716F-B937-39C5-20CE222B7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5388" y="-3200400"/>
            <a:ext cx="21971000" cy="168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22280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spcAft>
                <a:spcPts val="1500"/>
              </a:spcAft>
            </a:pP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45059" name="Text Box 2">
            <a:extLst>
              <a:ext uri="{FF2B5EF4-FFF2-40B4-BE49-F238E27FC236}">
                <a16:creationId xmlns:a16="http://schemas.microsoft.com/office/drawing/2014/main" id="{4DE6A01E-B8E0-9CFB-5FCE-64CD88E91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4260850"/>
            <a:ext cx="21971000" cy="825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57446" rIns="90000" bIns="45000"/>
          <a:lstStyle>
            <a:lvl1pPr marL="531813" indent="-392113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spcAft>
                <a:spcPts val="1413"/>
              </a:spcAft>
            </a:pPr>
            <a:r>
              <a:rPr lang="en-US" alt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en-US" sz="30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Segment Tree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30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Use Case: Range Queries &amp; Updates. * Industrial Application: Instantly finding the maximum price or sum of volumes in a specific time window (e.g., "What was the highest price between 10:05 AM and 10:15 AM?") while prices are still changing.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endParaRPr lang="en-US" altLang="en-US" dirty="0">
              <a:solidFill>
                <a:srgbClr val="FFFFFF"/>
              </a:solidFill>
            </a:endParaRPr>
          </a:p>
          <a:p>
            <a:pPr eaLnBrk="1">
              <a:spcAft>
                <a:spcPts val="1413"/>
              </a:spcAft>
              <a:buClrTx/>
              <a:buSzTx/>
              <a:buFontTx/>
              <a:buNone/>
            </a:pPr>
            <a:r>
              <a:rPr lang="en-US" altLang="en-US" sz="30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2. Fenwick Tree (Binary Indexed Tree)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30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Use Case: Prefix Sums. * Industrial Application: Calculating "Running Totals" of trades. It is much more memory-efficient than a Segment Tree and is used for lightning-fast updates in high-frequency order books.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endParaRPr lang="en-US" altLang="en-US" dirty="0">
              <a:solidFill>
                <a:srgbClr val="FFFFFF"/>
              </a:solidFill>
            </a:endParaRPr>
          </a:p>
          <a:p>
            <a:pPr eaLnBrk="1">
              <a:spcAft>
                <a:spcPts val="1413"/>
              </a:spcAft>
              <a:buClrTx/>
              <a:buSzTx/>
              <a:buFontTx/>
              <a:buNone/>
            </a:pPr>
            <a:r>
              <a:rPr lang="en-US" altLang="en-US" sz="30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3. DSU (Disjoint Set Union)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30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Use Case: Connectivity &amp; Grouping. * Industrial Application: Real-time Market Clustering. It helps identify if two seemingly different stocks have suddenly become "connected" in their price movement, allowing for instant risk diversification.</a:t>
            </a:r>
          </a:p>
        </p:txBody>
      </p:sp>
      <p:sp>
        <p:nvSpPr>
          <p:cNvPr id="45060" name="Text Box 3">
            <a:extLst>
              <a:ext uri="{FF2B5EF4-FFF2-40B4-BE49-F238E27FC236}">
                <a16:creationId xmlns:a16="http://schemas.microsoft.com/office/drawing/2014/main" id="{CACDDB88-8182-0471-8F39-FF89B170B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2601913"/>
            <a:ext cx="219710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5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Introduction to Quantitative Mathematics</a:t>
            </a:r>
          </a:p>
        </p:txBody>
      </p:sp>
      <p:sp>
        <p:nvSpPr>
          <p:cNvPr id="45061" name="TextBox 2">
            <a:extLst>
              <a:ext uri="{FF2B5EF4-FFF2-40B4-BE49-F238E27FC236}">
                <a16:creationId xmlns:a16="http://schemas.microsoft.com/office/drawing/2014/main" id="{499AFFEE-9DA7-0367-A95E-33A217332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87313"/>
            <a:ext cx="12203113" cy="80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93000"/>
              </a:lnSpc>
              <a:spcBef>
                <a:spcPts val="13"/>
              </a:spcBef>
              <a:spcAft>
                <a:spcPts val="15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5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Advanced Data Structures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ext Box 1">
            <a:extLst>
              <a:ext uri="{FF2B5EF4-FFF2-40B4-BE49-F238E27FC236}">
                <a16:creationId xmlns:a16="http://schemas.microsoft.com/office/drawing/2014/main" id="{64C30141-A546-FBB6-F8D4-9AB78557C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635000"/>
            <a:ext cx="21971000" cy="1689100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116120" rIns="90000" bIns="45000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lnSpc>
                <a:spcPct val="93000"/>
              </a:lnSpc>
              <a:spcBef>
                <a:spcPts val="13"/>
              </a:spcBef>
              <a:spcAft>
                <a:spcPts val="150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sz="80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Dynamic Programming — The Art of </a:t>
            </a:r>
            <a:r>
              <a:rPr lang="en-US" altLang="en-US" sz="5000" dirty="0" err="1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Optimisation</a:t>
            </a:r>
            <a:endParaRPr lang="en-US" altLang="en-US" sz="5000" dirty="0">
              <a:solidFill>
                <a:srgbClr val="FFFFFF"/>
              </a:solidFill>
              <a:latin typeface="Graphik-Regular" panose="020B0503030202060203" pitchFamily="34" charset="77"/>
              <a:ea typeface="Graphik-Regular" panose="020B0503030202060203" pitchFamily="34" charset="77"/>
              <a:cs typeface="Graphik-Regular" panose="020B0503030202060203" pitchFamily="34" charset="77"/>
            </a:endParaRPr>
          </a:p>
          <a:p>
            <a:pPr marL="508000" eaLnBrk="1">
              <a:lnSpc>
                <a:spcPct val="93000"/>
              </a:lnSpc>
              <a:spcBef>
                <a:spcPts val="13"/>
              </a:spcBef>
              <a:spcAft>
                <a:spcPts val="12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 altLang="en-US" dirty="0">
              <a:solidFill>
                <a:srgbClr val="FFFFFF"/>
              </a:solidFill>
            </a:endParaRPr>
          </a:p>
          <a:p>
            <a:pPr marL="508000" eaLnBrk="1">
              <a:lnSpc>
                <a:spcPct val="93000"/>
              </a:lnSpc>
              <a:spcBef>
                <a:spcPts val="13"/>
              </a:spcBef>
              <a:spcAft>
                <a:spcPts val="12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 altLang="en-US" dirty="0">
              <a:solidFill>
                <a:srgbClr val="FFFFFF"/>
              </a:solidFill>
            </a:endParaRPr>
          </a:p>
        </p:txBody>
      </p:sp>
      <p:sp>
        <p:nvSpPr>
          <p:cNvPr id="47107" name="Text Box 2">
            <a:extLst>
              <a:ext uri="{FF2B5EF4-FFF2-40B4-BE49-F238E27FC236}">
                <a16:creationId xmlns:a16="http://schemas.microsoft.com/office/drawing/2014/main" id="{48E23093-48DB-311E-8F15-552759569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4260850"/>
            <a:ext cx="21971000" cy="825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71670" rIns="90000" bIns="45000"/>
          <a:lstStyle>
            <a:lvl1pPr marL="531813" indent="-392113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spcAft>
                <a:spcPts val="1413"/>
              </a:spcAft>
            </a:pPr>
            <a:r>
              <a:rPr lang="en-US" altLang="en-US" sz="3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The Core Idea: Breaking into Subproblems</a:t>
            </a:r>
          </a:p>
          <a:p>
            <a:pPr eaLnBrk="1">
              <a:spcAft>
                <a:spcPts val="1413"/>
              </a:spcAft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3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Overlapping Subproblems: Divide a complex problem into smaller, simpler subproblems.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3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Memoization: Store the results of these subproblems in a table (DP Table) so you can reuse them instantly instead of recalculating.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3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Industrial Application: Used in Optimal Order Execution. When a firm needs to buy 1 million shares, DP finds the best way to split that "big" problem into 100 "small" trades over the day to minimize cost.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413"/>
              </a:spcAft>
              <a:buClrTx/>
              <a:buSzTx/>
              <a:buFontTx/>
              <a:buNone/>
            </a:pPr>
            <a:r>
              <a:rPr lang="en-US" altLang="en-US" sz="3000">
                <a:solidFill>
                  <a:srgbClr val="000000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2.</a:t>
            </a:r>
            <a:r>
              <a:rPr lang="en-US" altLang="en-US" sz="3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Classic Example: The Knapsack Problem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3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The Scenario: You have a bag with limited capacity and items with different weights and values. Which items do you take to maximize total value?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3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Quant Context: Think of this as Portfolio Optimization. Your "capacity" is your total capital, and the "items" are different stocks with varying risk and return profiles.</a:t>
            </a:r>
          </a:p>
        </p:txBody>
      </p:sp>
      <p:sp>
        <p:nvSpPr>
          <p:cNvPr id="47108" name="Text Box 3">
            <a:extLst>
              <a:ext uri="{FF2B5EF4-FFF2-40B4-BE49-F238E27FC236}">
                <a16:creationId xmlns:a16="http://schemas.microsoft.com/office/drawing/2014/main" id="{396F5C1B-247D-52C5-717C-638EAE115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2601913"/>
            <a:ext cx="219710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5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Introduction to Quantitative Mathematics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1">
            <a:extLst>
              <a:ext uri="{FF2B5EF4-FFF2-40B4-BE49-F238E27FC236}">
                <a16:creationId xmlns:a16="http://schemas.microsoft.com/office/drawing/2014/main" id="{75A714D2-BA8C-E233-1B20-8684291F8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766763"/>
            <a:ext cx="21971000" cy="1174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61002" rIns="90000" bIns="45000"/>
          <a:lstStyle>
            <a:lvl1pPr marL="655638" indent="-515938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 marL="1112838" indent="-515938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413"/>
              </a:spcAft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The Recurrence Relation</a:t>
            </a:r>
          </a:p>
          <a:p>
            <a:pPr eaLnBrk="1">
              <a:spcAft>
                <a:spcPts val="1213"/>
              </a:spcAft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To find the maximum value for i items and capacity w:</a:t>
            </a:r>
          </a:p>
          <a:p>
            <a:pPr eaLnBrk="1"/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dp[i][w]=max(dp[i−1][w],val[i]+dp[i−1][w−wt[i]])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Logic: For every item, you have two choices: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endParaRPr lang="en-US" altLang="en-US">
              <a:solidFill>
                <a:srgbClr val="FFFFFF"/>
              </a:solidFill>
            </a:endParaRPr>
          </a:p>
          <a:p>
            <a:pPr lvl="1"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AutoNum type="arabicPlain"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Exclude it: Take the best value from the previous items at the same capacity.</a:t>
            </a:r>
          </a:p>
          <a:p>
            <a:pPr lvl="1"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AutoNum type="arabicPlain"/>
            </a:pPr>
            <a:r>
              <a:rPr lang="en-US" altLang="en-US" sz="4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Include it: Add the current item's value to the best value of the remaining capacity.</a:t>
            </a:r>
          </a:p>
          <a:p>
            <a:pPr lvl="1"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AutoNum type="arabicPlain"/>
            </a:pPr>
            <a:endParaRPr lang="en-US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1">
            <a:extLst>
              <a:ext uri="{FF2B5EF4-FFF2-40B4-BE49-F238E27FC236}">
                <a16:creationId xmlns:a16="http://schemas.microsoft.com/office/drawing/2014/main" id="{65F2B552-2AF6-624A-A74D-7743E02E4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635000"/>
            <a:ext cx="21971000" cy="168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11612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8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Randomised Algorithms — The Power of Chance</a:t>
            </a:r>
          </a:p>
        </p:txBody>
      </p:sp>
      <p:sp>
        <p:nvSpPr>
          <p:cNvPr id="30722" name="Text Box 2">
            <a:extLst>
              <a:ext uri="{FF2B5EF4-FFF2-40B4-BE49-F238E27FC236}">
                <a16:creationId xmlns:a16="http://schemas.microsoft.com/office/drawing/2014/main" id="{4BB997EB-6F98-1EDB-96E8-7760CC516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3524250"/>
            <a:ext cx="21971000" cy="8993188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76114" rIns="90000" bIns="45000"/>
          <a:lstStyle>
            <a:lvl1pPr marL="593725" indent="-454025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lnSpc>
                <a:spcPct val="93000"/>
              </a:lnSpc>
              <a:spcBef>
                <a:spcPts val="13"/>
              </a:spcBef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sz="35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Why Use Randomness?</a:t>
            </a:r>
          </a:p>
          <a:p>
            <a:pPr eaLnBrk="1">
              <a:lnSpc>
                <a:spcPct val="93000"/>
              </a:lnSpc>
              <a:spcBef>
                <a:spcPts val="13"/>
              </a:spcBef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  <a:defRPr/>
            </a:pPr>
            <a:r>
              <a:rPr lang="en-US" altLang="en-US" sz="35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The Concept: A </a:t>
            </a:r>
            <a:r>
              <a:rPr lang="en-US" altLang="en-US" sz="3500" dirty="0" err="1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randomised</a:t>
            </a:r>
            <a:r>
              <a:rPr lang="en-US" altLang="en-US" sz="35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algorithm makes random choices during its execution to reach a solution.</a:t>
            </a:r>
          </a:p>
          <a:p>
            <a:pPr eaLnBrk="1">
              <a:lnSpc>
                <a:spcPct val="93000"/>
              </a:lnSpc>
              <a:spcBef>
                <a:spcPts val="13"/>
              </a:spcBef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  <a:defRPr/>
            </a:pPr>
            <a:r>
              <a:rPr lang="en-US" altLang="en-US" sz="35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The Goal: To avoid "Worst-Case" scenarios. If an adversary (or a volatile market) tries to predict your move to exploit you, randomness makes you unpredictable.</a:t>
            </a:r>
          </a:p>
          <a:p>
            <a:pPr eaLnBrk="1">
              <a:lnSpc>
                <a:spcPct val="93000"/>
              </a:lnSpc>
              <a:spcBef>
                <a:spcPts val="13"/>
              </a:spcBef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  <a:defRPr/>
            </a:pPr>
            <a:r>
              <a:rPr lang="en-US" altLang="en-US" sz="35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Performance: Often, a </a:t>
            </a:r>
            <a:r>
              <a:rPr lang="en-US" altLang="en-US" sz="3500" dirty="0" err="1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randomised</a:t>
            </a:r>
            <a:r>
              <a:rPr lang="en-US" altLang="en-US" sz="35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algorithm is much simpler and faster than a complex deterministic one, while providing the same results on average.</a:t>
            </a:r>
          </a:p>
          <a:p>
            <a:pPr marL="906463" indent="-449263" eaLnBrk="1">
              <a:lnSpc>
                <a:spcPct val="93000"/>
              </a:lnSpc>
              <a:spcBef>
                <a:spcPts val="13"/>
              </a:spcBef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  <a:defRPr/>
            </a:pPr>
            <a:endParaRPr lang="en-US" altLang="en-US" dirty="0">
              <a:solidFill>
                <a:srgbClr val="FFFFFF"/>
              </a:solidFill>
            </a:endParaRPr>
          </a:p>
          <a:p>
            <a:pPr eaLnBrk="1">
              <a:lnSpc>
                <a:spcPct val="93000"/>
              </a:lnSpc>
              <a:spcBef>
                <a:spcPts val="13"/>
              </a:spcBef>
              <a:spcAft>
                <a:spcPts val="1413"/>
              </a:spcAft>
              <a:defRPr/>
            </a:pPr>
            <a:r>
              <a:rPr lang="en-US" altLang="en-US" sz="35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Better Performance (The "Average Case")</a:t>
            </a:r>
          </a:p>
          <a:p>
            <a:pPr eaLnBrk="1">
              <a:lnSpc>
                <a:spcPct val="93000"/>
              </a:lnSpc>
              <a:spcBef>
                <a:spcPts val="13"/>
              </a:spcBef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  <a:defRPr/>
            </a:pPr>
            <a:r>
              <a:rPr lang="en-US" altLang="en-US" sz="35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 "Big Industry," we care about Expected Running Time.</a:t>
            </a:r>
          </a:p>
          <a:p>
            <a:pPr eaLnBrk="1">
              <a:lnSpc>
                <a:spcPct val="93000"/>
              </a:lnSpc>
              <a:spcBef>
                <a:spcPts val="13"/>
              </a:spcBef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  <a:defRPr/>
            </a:pPr>
            <a:r>
              <a:rPr lang="en-US" altLang="en-US" sz="35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Example: </a:t>
            </a:r>
            <a:r>
              <a:rPr lang="en-US" altLang="en-US" sz="3500" dirty="0" err="1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QuickSort</a:t>
            </a:r>
            <a:r>
              <a:rPr lang="en-US" altLang="en-US" sz="35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. A deterministic </a:t>
            </a:r>
            <a:r>
              <a:rPr lang="en-US" altLang="en-US" sz="3500" dirty="0" err="1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QuickSort</a:t>
            </a:r>
            <a:r>
              <a:rPr lang="en-US" altLang="en-US" sz="35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can be O(n2) if the data is poorly ordered. A </a:t>
            </a:r>
            <a:r>
              <a:rPr lang="en-US" altLang="en-US" sz="3500" dirty="0" err="1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Randomised</a:t>
            </a:r>
            <a:r>
              <a:rPr lang="en-US" altLang="en-US" sz="35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</a:t>
            </a:r>
            <a:r>
              <a:rPr lang="en-US" altLang="en-US" sz="3500" dirty="0" err="1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QuickSort</a:t>
            </a:r>
            <a:r>
              <a:rPr lang="en-US" altLang="en-US" sz="35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 (picking a random pivot) almost always stays at O(</a:t>
            </a:r>
            <a:r>
              <a:rPr lang="en-US" altLang="en-US" sz="3500" dirty="0" err="1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nlogn</a:t>
            </a:r>
            <a:r>
              <a:rPr lang="en-US" altLang="en-US" sz="35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), making it robust for massive industrial datasets.</a:t>
            </a:r>
          </a:p>
          <a:p>
            <a:pPr eaLnBrk="1">
              <a:lnSpc>
                <a:spcPct val="93000"/>
              </a:lnSpc>
              <a:spcBef>
                <a:spcPts val="13"/>
              </a:spcBef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  <a:defRPr/>
            </a:pPr>
            <a:endParaRPr lang="en-US" altLang="en-US" dirty="0">
              <a:solidFill>
                <a:srgbClr val="FFFFFF"/>
              </a:solidFill>
            </a:endParaRPr>
          </a:p>
        </p:txBody>
      </p:sp>
      <p:sp>
        <p:nvSpPr>
          <p:cNvPr id="55300" name="Text Box 3">
            <a:extLst>
              <a:ext uri="{FF2B5EF4-FFF2-40B4-BE49-F238E27FC236}">
                <a16:creationId xmlns:a16="http://schemas.microsoft.com/office/drawing/2014/main" id="{66F072D8-5F82-B532-BB56-808DE3E87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2124075"/>
            <a:ext cx="219710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5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Introduction to Quantitative Mathematics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1">
            <a:extLst>
              <a:ext uri="{FF2B5EF4-FFF2-40B4-BE49-F238E27FC236}">
                <a16:creationId xmlns:a16="http://schemas.microsoft.com/office/drawing/2014/main" id="{EBF7FEB7-4548-D683-5D4C-EECE8F4C0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635000"/>
            <a:ext cx="21971000" cy="168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11612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8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Learning Algorithms — The Future of Quants</a:t>
            </a:r>
          </a:p>
        </p:txBody>
      </p:sp>
      <p:sp>
        <p:nvSpPr>
          <p:cNvPr id="57347" name="Text Box 2">
            <a:extLst>
              <a:ext uri="{FF2B5EF4-FFF2-40B4-BE49-F238E27FC236}">
                <a16:creationId xmlns:a16="http://schemas.microsoft.com/office/drawing/2014/main" id="{16BC327B-5123-7C31-AE6A-F0AC306A2B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4260850"/>
            <a:ext cx="21971000" cy="825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76114" rIns="90000" bIns="45000"/>
          <a:lstStyle>
            <a:lvl1pPr marL="593725" indent="-454025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spcAft>
                <a:spcPts val="1413"/>
              </a:spcAft>
            </a:pPr>
            <a:r>
              <a:rPr lang="en-US" altLang="en-US" sz="35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AI + Algorithms</a:t>
            </a:r>
          </a:p>
          <a:p>
            <a:pPr eaLnBrk="1">
              <a:spcAft>
                <a:spcPts val="1413"/>
              </a:spcAft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35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Combining Machine Learning (pattern recognition) with Competitive Programming (efficiency) to create adaptive systems.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35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The Goal: Moving from static "rules" to algorithms that learn from every trade, optimizing the Competitive Ratioautomatically.</a:t>
            </a:r>
          </a:p>
          <a:p>
            <a:pPr eaLnBrk="1">
              <a:spcAft>
                <a:spcPts val="1413"/>
              </a:spcAft>
              <a:buClrTx/>
              <a:buSzTx/>
              <a:buFontTx/>
              <a:buNone/>
            </a:pPr>
            <a:endParaRPr lang="en-US" altLang="en-US">
              <a:solidFill>
                <a:srgbClr val="FFFFFF"/>
              </a:solidFill>
            </a:endParaRPr>
          </a:p>
          <a:p>
            <a:pPr eaLnBrk="1">
              <a:spcAft>
                <a:spcPts val="1413"/>
              </a:spcAft>
              <a:buClrTx/>
              <a:buSzTx/>
              <a:buFontTx/>
              <a:buNone/>
            </a:pPr>
            <a:r>
              <a:rPr lang="en-US" altLang="en-US" sz="35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2. Using Predictions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35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Utilizing Reinforcement Learning to predict the next "Best Move" in an uncertain environment.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35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Industry Use: Modern HFT firms like Jane Street use these to anticipate market shifts before they happen, treating the market as a live, learning game.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7348" name="Text Box 3">
            <a:extLst>
              <a:ext uri="{FF2B5EF4-FFF2-40B4-BE49-F238E27FC236}">
                <a16:creationId xmlns:a16="http://schemas.microsoft.com/office/drawing/2014/main" id="{309A4858-B45C-DD9D-B12F-3AF44B4CC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2566988"/>
            <a:ext cx="219710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5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Introduction to Quantitative Mathematics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1">
            <a:extLst>
              <a:ext uri="{FF2B5EF4-FFF2-40B4-BE49-F238E27FC236}">
                <a16:creationId xmlns:a16="http://schemas.microsoft.com/office/drawing/2014/main" id="{70674641-9121-4EF9-C9E7-DDBC511AB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635000"/>
            <a:ext cx="21971000" cy="168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288839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lnSpc>
                <a:spcPct val="84000"/>
              </a:lnSpc>
            </a:pPr>
            <a:r>
              <a:rPr lang="en-US" altLang="en-US" sz="12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Real-World Applications</a:t>
            </a:r>
          </a:p>
        </p:txBody>
      </p:sp>
      <p:sp>
        <p:nvSpPr>
          <p:cNvPr id="59395" name="Text Box 2">
            <a:extLst>
              <a:ext uri="{FF2B5EF4-FFF2-40B4-BE49-F238E27FC236}">
                <a16:creationId xmlns:a16="http://schemas.microsoft.com/office/drawing/2014/main" id="{1FE9EB30-9A99-D97D-8983-F768DF1F2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638" y="6017419"/>
            <a:ext cx="21971000" cy="825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61002" rIns="90000" bIns="45000"/>
          <a:lstStyle>
            <a:lvl1pPr marL="593725" indent="-454025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>
              <a:spcAft>
                <a:spcPts val="1213"/>
              </a:spcAft>
            </a:pPr>
            <a:endParaRPr lang="en-US" altLang="en-US" dirty="0">
              <a:solidFill>
                <a:srgbClr val="FFFFFF"/>
              </a:solidFill>
            </a:endParaRPr>
          </a:p>
          <a:p>
            <a:pPr eaLnBrk="1">
              <a:spcAft>
                <a:spcPts val="1413"/>
              </a:spcAft>
            </a:pPr>
            <a:r>
              <a:rPr lang="en-US" altLang="en-US" sz="35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1. Finance (The Gold Standard)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35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Market Making: Firms like Jane Street use probability and game theory to provide constant buy/sell prices, ensuring global liquidity.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r>
              <a:rPr lang="en-US" altLang="en-US" sz="35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Risk Management: Calculating "Value at Risk" (</a:t>
            </a:r>
            <a:r>
              <a:rPr lang="en-US" altLang="en-US" sz="3500" dirty="0" err="1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VaR</a:t>
            </a:r>
            <a:r>
              <a:rPr lang="en-US" altLang="en-US" sz="35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) using stochastic calculus to prevent multi-billion dollar bank failures.</a:t>
            </a:r>
          </a:p>
          <a:p>
            <a:pPr eaLnBrk="1">
              <a:spcAft>
                <a:spcPts val="1213"/>
              </a:spcAft>
              <a:buClr>
                <a:srgbClr val="FFFFFF"/>
              </a:buClr>
              <a:buSzPct val="45000"/>
              <a:buFont typeface="Times New Roman" panose="02020603050405020304" pitchFamily="18" charset="0"/>
              <a:buChar char="•"/>
            </a:pPr>
            <a:endParaRPr lang="en-US" altLang="en-US" dirty="0">
              <a:solidFill>
                <a:srgbClr val="FFFFFF"/>
              </a:solidFill>
            </a:endParaRPr>
          </a:p>
        </p:txBody>
      </p:sp>
      <p:sp>
        <p:nvSpPr>
          <p:cNvPr id="59396" name="Text Box 3">
            <a:extLst>
              <a:ext uri="{FF2B5EF4-FFF2-40B4-BE49-F238E27FC236}">
                <a16:creationId xmlns:a16="http://schemas.microsoft.com/office/drawing/2014/main" id="{CC5E9D3B-CAB0-1134-1056-85CD38AE8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2566988"/>
            <a:ext cx="219710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eaLnBrk="1"/>
            <a:r>
              <a:rPr lang="en-US" altLang="en-US" sz="50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Introduction to Quantitative Mathematics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0DE4481-4A34-070F-D46F-C6780F4DB166}"/>
              </a:ext>
            </a:extLst>
          </p:cNvPr>
          <p:cNvSpPr txBox="1"/>
          <p:nvPr/>
        </p:nvSpPr>
        <p:spPr>
          <a:xfrm>
            <a:off x="609600" y="304800"/>
            <a:ext cx="15163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</a:rPr>
              <a:t>Current Progress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CC981C-D0A7-52FD-B3F5-F58BCE9EFE62}"/>
              </a:ext>
            </a:extLst>
          </p:cNvPr>
          <p:cNvSpPr txBox="1"/>
          <p:nvPr/>
        </p:nvSpPr>
        <p:spPr>
          <a:xfrm>
            <a:off x="762000" y="1828800"/>
            <a:ext cx="15316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/>
            <a:r>
              <a:rPr lang="en-US" altLang="en-US" sz="6000" dirty="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Introduction to Quantitative Mathematics</a:t>
            </a:r>
          </a:p>
        </p:txBody>
      </p:sp>
      <p:sp useBgFill="1">
        <p:nvSpPr>
          <p:cNvPr id="12" name="TextBox 11">
            <a:extLst>
              <a:ext uri="{FF2B5EF4-FFF2-40B4-BE49-F238E27FC236}">
                <a16:creationId xmlns:a16="http://schemas.microsoft.com/office/drawing/2014/main" id="{DFA10014-A710-2790-EE0D-2D322484ADD6}"/>
              </a:ext>
            </a:extLst>
          </p:cNvPr>
          <p:cNvSpPr txBox="1"/>
          <p:nvPr/>
        </p:nvSpPr>
        <p:spPr>
          <a:xfrm>
            <a:off x="1066800" y="3733800"/>
            <a:ext cx="15316200" cy="33528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sz="7000" dirty="0">
                <a:solidFill>
                  <a:schemeClr val="bg1"/>
                </a:solidFill>
              </a:rPr>
              <a:t>Currently the work is in the initial progress </a:t>
            </a:r>
          </a:p>
        </p:txBody>
      </p:sp>
    </p:spTree>
    <p:extLst>
      <p:ext uri="{BB962C8B-B14F-4D97-AF65-F5344CB8AC3E}">
        <p14:creationId xmlns:p14="http://schemas.microsoft.com/office/powerpoint/2010/main" val="40808379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1">
            <a:extLst>
              <a:ext uri="{FF2B5EF4-FFF2-40B4-BE49-F238E27FC236}">
                <a16:creationId xmlns:a16="http://schemas.microsoft.com/office/drawing/2014/main" id="{02F33429-95EE-3972-13E4-671A0179A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4191000"/>
            <a:ext cx="21971000" cy="408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288839" rIns="90000" bIns="45000" anchor="ctr"/>
          <a:lstStyle>
            <a:lvl1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1pPr>
            <a:lvl2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2pPr>
            <a:lvl3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3pPr>
            <a:lvl4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4pPr>
            <a:lvl5pPr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  <a:tab pos="10972800" algn="l"/>
                <a:tab pos="11430000" algn="l"/>
                <a:tab pos="11887200" algn="l"/>
                <a:tab pos="12344400" algn="l"/>
                <a:tab pos="12801600" algn="l"/>
                <a:tab pos="13258800" algn="l"/>
                <a:tab pos="13716000" algn="l"/>
                <a:tab pos="14173200" algn="l"/>
                <a:tab pos="1463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Source Han Sans CN" charset="0"/>
                <a:cs typeface="Source Han Sans CN" charset="0"/>
              </a:defRPr>
            </a:lvl9pPr>
          </a:lstStyle>
          <a:p>
            <a:pPr algn="ctr" eaLnBrk="1">
              <a:lnSpc>
                <a:spcPct val="84000"/>
              </a:lnSpc>
            </a:pPr>
            <a:r>
              <a:rPr lang="en-US" altLang="en-US" sz="12000">
                <a:solidFill>
                  <a:srgbClr val="FFFFFF"/>
                </a:solidFill>
                <a:latin typeface="Graphik-Regular" panose="020B0503030202060203" pitchFamily="34" charset="77"/>
                <a:ea typeface="Graphik-Regular" panose="020B0503030202060203" pitchFamily="34" charset="77"/>
                <a:cs typeface="Graphik-Regular" panose="020B0503030202060203" pitchFamily="34" charset="77"/>
              </a:rPr>
              <a:t>Thank you</a:t>
            </a:r>
          </a:p>
        </p:txBody>
      </p:sp>
    </p:spTree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Source Han Sans CN"/>
        <a:cs typeface="Source Han Sans CN"/>
      </a:majorFont>
      <a:minorFont>
        <a:latin typeface="Arial"/>
        <a:ea typeface="Source Han Sans CN"/>
        <a:cs typeface="Source Han Sans C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arsh ppt 4" id="{79DC54F1-2FBA-E841-BB00-3405E7D2AB35}" vid="{8A4F8CC7-5F3D-E345-B128-226DE1F519A4}"/>
    </a:ext>
  </a:extLst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Source Han Sans CN"/>
        <a:cs typeface="Source Han Sans CN"/>
      </a:majorFont>
      <a:minorFont>
        <a:latin typeface="Arial"/>
        <a:ea typeface="Source Han Sans CN"/>
        <a:cs typeface="Source Han Sans C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ts val="13"/>
          </a:spcBef>
          <a:spcAft>
            <a:spcPts val="13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arsh ppt 4" id="{79DC54F1-2FBA-E841-BB00-3405E7D2AB35}" vid="{4F7A065A-1D94-E04B-8E30-3ECFB7FB150F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2415</Words>
  <Application>Microsoft Macintosh PowerPoint</Application>
  <PresentationFormat>Custom</PresentationFormat>
  <Paragraphs>250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Arial</vt:lpstr>
      <vt:lpstr>Source Han Sans CN</vt:lpstr>
      <vt:lpstr>Times New Roman</vt:lpstr>
      <vt:lpstr>DejaVu Sans</vt:lpstr>
      <vt:lpstr>Graphik-Regular</vt:lpstr>
      <vt:lpstr>Impact</vt:lpstr>
      <vt:lpstr>Graphik-Bold</vt:lpstr>
      <vt:lpstr>Produkt-Extralight</vt:lpstr>
      <vt:lpstr>HelveticaNeue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Harsh Khandelwal [CSE - 2024]</cp:lastModifiedBy>
  <cp:revision>4</cp:revision>
  <cp:lastPrinted>1601-01-01T00:00:00Z</cp:lastPrinted>
  <dcterms:created xsi:type="dcterms:W3CDTF">1601-01-01T00:00:00Z</dcterms:created>
  <dcterms:modified xsi:type="dcterms:W3CDTF">2026-04-13T05:11:30Z</dcterms:modified>
</cp:coreProperties>
</file>